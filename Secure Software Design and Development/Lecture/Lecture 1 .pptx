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74" r:id="rId2"/>
    <p:sldId id="275" r:id="rId3"/>
    <p:sldId id="276" r:id="rId4"/>
    <p:sldId id="277" r:id="rId5"/>
    <p:sldId id="278" r:id="rId6"/>
    <p:sldId id="279" r:id="rId7"/>
    <p:sldId id="280" r:id="rId8"/>
    <p:sldId id="281" r:id="rId9"/>
    <p:sldId id="284" r:id="rId10"/>
    <p:sldId id="282" r:id="rId11"/>
    <p:sldId id="283"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537" autoAdjust="0"/>
  </p:normalViewPr>
  <p:slideViewPr>
    <p:cSldViewPr snapToGrid="0">
      <p:cViewPr varScale="1">
        <p:scale>
          <a:sx n="84" d="100"/>
          <a:sy n="84" d="100"/>
        </p:scale>
        <p:origin x="4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1A4C0-90F6-47D3-BF81-04CE1479F5DB}" type="datetimeFigureOut">
              <a:rPr lang="en-US" smtClean="0"/>
              <a:t>3/8/2024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B05F4D-AD90-4C54-886B-252517105F56}" type="slidenum">
              <a:rPr lang="en-US" smtClean="0"/>
              <a:t>‹#›</a:t>
            </a:fld>
            <a:endParaRPr lang="en-US"/>
          </a:p>
        </p:txBody>
      </p:sp>
    </p:spTree>
    <p:extLst>
      <p:ext uri="{BB962C8B-B14F-4D97-AF65-F5344CB8AC3E}">
        <p14:creationId xmlns:p14="http://schemas.microsoft.com/office/powerpoint/2010/main" val="2887593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B05F4D-AD90-4C54-886B-252517105F56}" type="slidenum">
              <a:rPr lang="en-US" smtClean="0"/>
              <a:t>1</a:t>
            </a:fld>
            <a:endParaRPr lang="en-US"/>
          </a:p>
        </p:txBody>
      </p:sp>
    </p:spTree>
    <p:extLst>
      <p:ext uri="{BB962C8B-B14F-4D97-AF65-F5344CB8AC3E}">
        <p14:creationId xmlns:p14="http://schemas.microsoft.com/office/powerpoint/2010/main" val="39807220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3/8/2024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3/8/2024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3/8/2024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3/8/2024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3/8/2024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3/8/2024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3/8/2024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3/8/2024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3/8/2024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8427" y="4339113"/>
            <a:ext cx="8825658" cy="1700213"/>
          </a:xfrm>
        </p:spPr>
        <p:txBody>
          <a:bodyPr/>
          <a:lstStyle/>
          <a:p>
            <a:pPr algn="ctr"/>
            <a:br>
              <a:rPr lang="en-US" sz="4800" dirty="0"/>
            </a:br>
            <a:br>
              <a:rPr lang="en-US" sz="4800" dirty="0"/>
            </a:br>
            <a:br>
              <a:rPr lang="en-US" sz="4800" dirty="0"/>
            </a:br>
            <a:br>
              <a:rPr lang="en-US" sz="4800" dirty="0"/>
            </a:br>
            <a:r>
              <a:rPr lang="en-US" sz="4800" dirty="0"/>
              <a:t>Secure Software Design and Development </a:t>
            </a:r>
            <a:br>
              <a:rPr lang="en-US" sz="4800" dirty="0"/>
            </a:br>
            <a:r>
              <a:rPr lang="en-US" sz="4000" dirty="0"/>
              <a:t> </a:t>
            </a:r>
            <a:r>
              <a:rPr lang="en-US" sz="4800" dirty="0"/>
              <a:t>(Part I: Software Security Fundamentals) </a:t>
            </a:r>
            <a:br>
              <a:rPr lang="en-US" sz="4800" dirty="0"/>
            </a:br>
            <a:br>
              <a:rPr lang="en-US" sz="4800" dirty="0"/>
            </a:br>
            <a:br>
              <a:rPr lang="en-US" sz="4800" dirty="0"/>
            </a:br>
            <a:endParaRPr lang="en-US" sz="4800" dirty="0"/>
          </a:p>
        </p:txBody>
      </p:sp>
      <p:sp>
        <p:nvSpPr>
          <p:cNvPr id="3" name="Subtitle 2"/>
          <p:cNvSpPr>
            <a:spLocks noGrp="1"/>
          </p:cNvSpPr>
          <p:nvPr>
            <p:ph type="subTitle" idx="1"/>
          </p:nvPr>
        </p:nvSpPr>
        <p:spPr>
          <a:xfrm>
            <a:off x="1683171" y="4091940"/>
            <a:ext cx="8825658" cy="2967037"/>
          </a:xfrm>
        </p:spPr>
        <p:txBody>
          <a:bodyPr>
            <a:normAutofit/>
          </a:bodyPr>
          <a:lstStyle/>
          <a:p>
            <a:pPr algn="ctr" eaLnBrk="1" fontAlgn="auto" hangingPunct="1">
              <a:spcAft>
                <a:spcPts val="0"/>
              </a:spcAft>
              <a:defRPr/>
            </a:pPr>
            <a:r>
              <a:rPr lang="en-AU" altLang="en-US" sz="2600" b="1" dirty="0">
                <a:solidFill>
                  <a:schemeClr val="bg1"/>
                </a:solidFill>
              </a:rPr>
              <a:t>Chapter 1. Defining a Discipline</a:t>
            </a:r>
          </a:p>
          <a:p>
            <a:pPr algn="ctr" eaLnBrk="1" fontAlgn="auto" hangingPunct="1">
              <a:spcAft>
                <a:spcPts val="0"/>
              </a:spcAft>
              <a:defRPr/>
            </a:pPr>
            <a:r>
              <a:rPr lang="en-AU" altLang="en-US" sz="1200" b="1" dirty="0">
                <a:solidFill>
                  <a:schemeClr val="bg1"/>
                </a:solidFill>
              </a:rPr>
              <a:t>Book: </a:t>
            </a:r>
            <a:r>
              <a:rPr lang="en-US" sz="1200" dirty="0"/>
              <a:t>Software Security: Building Security In, 1st Edition by Gary McGraw</a:t>
            </a:r>
            <a:endParaRPr lang="en-AU" altLang="en-US" sz="1200" b="1" dirty="0">
              <a:solidFill>
                <a:schemeClr val="bg1"/>
              </a:solidFill>
            </a:endParaRPr>
          </a:p>
          <a:p>
            <a:endParaRPr lang="en-US" dirty="0"/>
          </a:p>
        </p:txBody>
      </p:sp>
    </p:spTree>
    <p:extLst>
      <p:ext uri="{BB962C8B-B14F-4D97-AF65-F5344CB8AC3E}">
        <p14:creationId xmlns:p14="http://schemas.microsoft.com/office/powerpoint/2010/main" val="266541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8603E51-7BAC-E24C-AC0D-CA7EEAC25F79}"/>
              </a:ext>
            </a:extLst>
          </p:cNvPr>
          <p:cNvPicPr>
            <a:picLocks noGrp="1" noChangeAspect="1"/>
          </p:cNvPicPr>
          <p:nvPr>
            <p:ph idx="1"/>
          </p:nvPr>
        </p:nvPicPr>
        <p:blipFill>
          <a:blip r:embed="rId2"/>
          <a:stretch>
            <a:fillRect/>
          </a:stretch>
        </p:blipFill>
        <p:spPr>
          <a:xfrm>
            <a:off x="914400" y="2137409"/>
            <a:ext cx="10607040" cy="4578845"/>
          </a:xfrm>
        </p:spPr>
      </p:pic>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Software security</a:t>
            </a:r>
          </a:p>
        </p:txBody>
      </p:sp>
    </p:spTree>
    <p:extLst>
      <p:ext uri="{BB962C8B-B14F-4D97-AF65-F5344CB8AC3E}">
        <p14:creationId xmlns:p14="http://schemas.microsoft.com/office/powerpoint/2010/main" val="2231809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95D68A-23E3-E903-9B19-C7B9AAF90E44}"/>
              </a:ext>
            </a:extLst>
          </p:cNvPr>
          <p:cNvPicPr>
            <a:picLocks noChangeAspect="1"/>
          </p:cNvPicPr>
          <p:nvPr/>
        </p:nvPicPr>
        <p:blipFill>
          <a:blip r:embed="rId2"/>
          <a:stretch>
            <a:fillRect/>
          </a:stretch>
        </p:blipFill>
        <p:spPr>
          <a:xfrm>
            <a:off x="0" y="1859915"/>
            <a:ext cx="11715750" cy="4857750"/>
          </a:xfrm>
          <a:prstGeom prst="rect">
            <a:avLst/>
          </a:prstGeom>
        </p:spPr>
      </p:pic>
      <p:sp>
        <p:nvSpPr>
          <p:cNvPr id="6" name="TextBox 5">
            <a:extLst>
              <a:ext uri="{FF2B5EF4-FFF2-40B4-BE49-F238E27FC236}">
                <a16:creationId xmlns:a16="http://schemas.microsoft.com/office/drawing/2014/main" id="{A9134105-7A75-05DF-D39D-5536DB8D4834}"/>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Software security</a:t>
            </a:r>
          </a:p>
        </p:txBody>
      </p:sp>
    </p:spTree>
    <p:extLst>
      <p:ext uri="{BB962C8B-B14F-4D97-AF65-F5344CB8AC3E}">
        <p14:creationId xmlns:p14="http://schemas.microsoft.com/office/powerpoint/2010/main" val="9478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9B1B27-42EF-0063-44FA-7C86D88BC4F3}"/>
              </a:ext>
            </a:extLst>
          </p:cNvPr>
          <p:cNvPicPr>
            <a:picLocks noChangeAspect="1"/>
          </p:cNvPicPr>
          <p:nvPr/>
        </p:nvPicPr>
        <p:blipFill>
          <a:blip r:embed="rId2"/>
          <a:stretch>
            <a:fillRect/>
          </a:stretch>
        </p:blipFill>
        <p:spPr>
          <a:xfrm>
            <a:off x="0" y="1905000"/>
            <a:ext cx="11841480" cy="4953000"/>
          </a:xfrm>
          <a:prstGeom prst="rect">
            <a:avLst/>
          </a:prstGeom>
        </p:spPr>
      </p:pic>
      <p:sp>
        <p:nvSpPr>
          <p:cNvPr id="4" name="TextBox 3">
            <a:extLst>
              <a:ext uri="{FF2B5EF4-FFF2-40B4-BE49-F238E27FC236}">
                <a16:creationId xmlns:a16="http://schemas.microsoft.com/office/drawing/2014/main" id="{97ACD929-9025-38C8-556F-03D851A1B97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Software security</a:t>
            </a:r>
          </a:p>
        </p:txBody>
      </p:sp>
    </p:spTree>
    <p:extLst>
      <p:ext uri="{BB962C8B-B14F-4D97-AF65-F5344CB8AC3E}">
        <p14:creationId xmlns:p14="http://schemas.microsoft.com/office/powerpoint/2010/main" val="2031974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BA264E-E7B3-560E-B6B5-ECD0D7DF345C}"/>
              </a:ext>
            </a:extLst>
          </p:cNvPr>
          <p:cNvPicPr>
            <a:picLocks noChangeAspect="1"/>
          </p:cNvPicPr>
          <p:nvPr/>
        </p:nvPicPr>
        <p:blipFill>
          <a:blip r:embed="rId2"/>
          <a:stretch>
            <a:fillRect/>
          </a:stretch>
        </p:blipFill>
        <p:spPr>
          <a:xfrm>
            <a:off x="0" y="2137410"/>
            <a:ext cx="12070079" cy="4720590"/>
          </a:xfrm>
          <a:prstGeom prst="rect">
            <a:avLst/>
          </a:prstGeom>
        </p:spPr>
      </p:pic>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461665"/>
          </a:xfrm>
          <a:prstGeom prst="rect">
            <a:avLst/>
          </a:prstGeom>
          <a:noFill/>
        </p:spPr>
        <p:txBody>
          <a:bodyPr wrap="square">
            <a:spAutoFit/>
          </a:bodyPr>
          <a:lstStyle/>
          <a:p>
            <a:r>
              <a:rPr lang="en-US" sz="2400" b="1" dirty="0">
                <a:solidFill>
                  <a:schemeClr val="bg1"/>
                </a:solidFill>
              </a:rPr>
              <a:t>The Trinity of Trouble: Why the Problem Is Growing</a:t>
            </a:r>
          </a:p>
        </p:txBody>
      </p:sp>
    </p:spTree>
    <p:extLst>
      <p:ext uri="{BB962C8B-B14F-4D97-AF65-F5344CB8AC3E}">
        <p14:creationId xmlns:p14="http://schemas.microsoft.com/office/powerpoint/2010/main" val="367291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461665"/>
          </a:xfrm>
          <a:prstGeom prst="rect">
            <a:avLst/>
          </a:prstGeom>
          <a:noFill/>
        </p:spPr>
        <p:txBody>
          <a:bodyPr wrap="square">
            <a:spAutoFit/>
          </a:bodyPr>
          <a:lstStyle/>
          <a:p>
            <a:r>
              <a:rPr lang="en-US" sz="2400" b="1" dirty="0">
                <a:solidFill>
                  <a:schemeClr val="bg1"/>
                </a:solidFill>
              </a:rPr>
              <a:t>The Trinity of Trouble: Why the Problem Is Growing</a:t>
            </a:r>
          </a:p>
        </p:txBody>
      </p:sp>
      <p:pic>
        <p:nvPicPr>
          <p:cNvPr id="5" name="Picture 4">
            <a:extLst>
              <a:ext uri="{FF2B5EF4-FFF2-40B4-BE49-F238E27FC236}">
                <a16:creationId xmlns:a16="http://schemas.microsoft.com/office/drawing/2014/main" id="{7ADB6B1C-3DBC-B468-A379-F5D2A9264105}"/>
              </a:ext>
            </a:extLst>
          </p:cNvPr>
          <p:cNvPicPr>
            <a:picLocks noChangeAspect="1"/>
          </p:cNvPicPr>
          <p:nvPr/>
        </p:nvPicPr>
        <p:blipFill>
          <a:blip r:embed="rId2"/>
          <a:stretch>
            <a:fillRect/>
          </a:stretch>
        </p:blipFill>
        <p:spPr>
          <a:xfrm>
            <a:off x="0" y="1875837"/>
            <a:ext cx="12043409" cy="4982163"/>
          </a:xfrm>
          <a:prstGeom prst="rect">
            <a:avLst/>
          </a:prstGeom>
        </p:spPr>
      </p:pic>
    </p:spTree>
    <p:extLst>
      <p:ext uri="{BB962C8B-B14F-4D97-AF65-F5344CB8AC3E}">
        <p14:creationId xmlns:p14="http://schemas.microsoft.com/office/powerpoint/2010/main" val="4188518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461665"/>
          </a:xfrm>
          <a:prstGeom prst="rect">
            <a:avLst/>
          </a:prstGeom>
          <a:noFill/>
        </p:spPr>
        <p:txBody>
          <a:bodyPr wrap="square">
            <a:spAutoFit/>
          </a:bodyPr>
          <a:lstStyle/>
          <a:p>
            <a:r>
              <a:rPr lang="en-US" sz="2400" b="1" dirty="0">
                <a:solidFill>
                  <a:schemeClr val="bg1"/>
                </a:solidFill>
              </a:rPr>
              <a:t>The Trinity of Trouble: Why the Problem Is Growing</a:t>
            </a:r>
          </a:p>
        </p:txBody>
      </p:sp>
      <p:pic>
        <p:nvPicPr>
          <p:cNvPr id="4" name="Picture 3">
            <a:extLst>
              <a:ext uri="{FF2B5EF4-FFF2-40B4-BE49-F238E27FC236}">
                <a16:creationId xmlns:a16="http://schemas.microsoft.com/office/drawing/2014/main" id="{846F33EE-1006-EE25-DE71-0623440592B8}"/>
              </a:ext>
            </a:extLst>
          </p:cNvPr>
          <p:cNvPicPr>
            <a:picLocks noChangeAspect="1"/>
          </p:cNvPicPr>
          <p:nvPr/>
        </p:nvPicPr>
        <p:blipFill>
          <a:blip r:embed="rId2"/>
          <a:stretch>
            <a:fillRect/>
          </a:stretch>
        </p:blipFill>
        <p:spPr>
          <a:xfrm>
            <a:off x="340995" y="2238493"/>
            <a:ext cx="11510010" cy="4448057"/>
          </a:xfrm>
          <a:prstGeom prst="rect">
            <a:avLst/>
          </a:prstGeom>
        </p:spPr>
      </p:pic>
    </p:spTree>
    <p:extLst>
      <p:ext uri="{BB962C8B-B14F-4D97-AF65-F5344CB8AC3E}">
        <p14:creationId xmlns:p14="http://schemas.microsoft.com/office/powerpoint/2010/main" val="238835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461665"/>
          </a:xfrm>
          <a:prstGeom prst="rect">
            <a:avLst/>
          </a:prstGeom>
          <a:noFill/>
        </p:spPr>
        <p:txBody>
          <a:bodyPr wrap="square">
            <a:spAutoFit/>
          </a:bodyPr>
          <a:lstStyle/>
          <a:p>
            <a:r>
              <a:rPr lang="en-US" sz="2400" b="1" dirty="0">
                <a:solidFill>
                  <a:schemeClr val="bg1"/>
                </a:solidFill>
              </a:rPr>
              <a:t>The Trinity of Trouble: Why the Problem Is Growing</a:t>
            </a:r>
          </a:p>
        </p:txBody>
      </p:sp>
      <p:pic>
        <p:nvPicPr>
          <p:cNvPr id="5" name="Picture 4">
            <a:extLst>
              <a:ext uri="{FF2B5EF4-FFF2-40B4-BE49-F238E27FC236}">
                <a16:creationId xmlns:a16="http://schemas.microsoft.com/office/drawing/2014/main" id="{FA5FB247-D774-3D5C-2ED5-2A01CD76B825}"/>
              </a:ext>
            </a:extLst>
          </p:cNvPr>
          <p:cNvPicPr>
            <a:picLocks noChangeAspect="1"/>
          </p:cNvPicPr>
          <p:nvPr/>
        </p:nvPicPr>
        <p:blipFill>
          <a:blip r:embed="rId2"/>
          <a:stretch>
            <a:fillRect/>
          </a:stretch>
        </p:blipFill>
        <p:spPr>
          <a:xfrm>
            <a:off x="137160" y="2000368"/>
            <a:ext cx="10869930" cy="4594742"/>
          </a:xfrm>
          <a:prstGeom prst="rect">
            <a:avLst/>
          </a:prstGeom>
        </p:spPr>
      </p:pic>
    </p:spTree>
    <p:extLst>
      <p:ext uri="{BB962C8B-B14F-4D97-AF65-F5344CB8AC3E}">
        <p14:creationId xmlns:p14="http://schemas.microsoft.com/office/powerpoint/2010/main" val="448751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945832" y="689728"/>
            <a:ext cx="8243888" cy="461665"/>
          </a:xfrm>
          <a:prstGeom prst="rect">
            <a:avLst/>
          </a:prstGeom>
          <a:noFill/>
        </p:spPr>
        <p:txBody>
          <a:bodyPr wrap="square">
            <a:spAutoFit/>
          </a:bodyPr>
          <a:lstStyle/>
          <a:p>
            <a:r>
              <a:rPr lang="en-US" sz="2400" b="1" dirty="0">
                <a:solidFill>
                  <a:schemeClr val="bg1"/>
                </a:solidFill>
              </a:rPr>
              <a:t>The Trinity of Trouble: Why the Problem Is Growing</a:t>
            </a:r>
          </a:p>
        </p:txBody>
      </p:sp>
      <p:pic>
        <p:nvPicPr>
          <p:cNvPr id="3" name="Picture 2">
            <a:extLst>
              <a:ext uri="{FF2B5EF4-FFF2-40B4-BE49-F238E27FC236}">
                <a16:creationId xmlns:a16="http://schemas.microsoft.com/office/drawing/2014/main" id="{CFB8C70E-EBAE-5440-2300-85B428100CCD}"/>
              </a:ext>
            </a:extLst>
          </p:cNvPr>
          <p:cNvPicPr>
            <a:picLocks noChangeAspect="1"/>
          </p:cNvPicPr>
          <p:nvPr/>
        </p:nvPicPr>
        <p:blipFill>
          <a:blip r:embed="rId2"/>
          <a:stretch>
            <a:fillRect/>
          </a:stretch>
        </p:blipFill>
        <p:spPr>
          <a:xfrm>
            <a:off x="1873567" y="2432685"/>
            <a:ext cx="7781925" cy="3981450"/>
          </a:xfrm>
          <a:prstGeom prst="rect">
            <a:avLst/>
          </a:prstGeom>
        </p:spPr>
      </p:pic>
      <p:pic>
        <p:nvPicPr>
          <p:cNvPr id="7" name="Picture 6">
            <a:extLst>
              <a:ext uri="{FF2B5EF4-FFF2-40B4-BE49-F238E27FC236}">
                <a16:creationId xmlns:a16="http://schemas.microsoft.com/office/drawing/2014/main" id="{98E72465-B3E5-94BB-B87E-0DF3F7EBAC6E}"/>
              </a:ext>
            </a:extLst>
          </p:cNvPr>
          <p:cNvPicPr>
            <a:picLocks noChangeAspect="1"/>
          </p:cNvPicPr>
          <p:nvPr/>
        </p:nvPicPr>
        <p:blipFill>
          <a:blip r:embed="rId3"/>
          <a:stretch>
            <a:fillRect/>
          </a:stretch>
        </p:blipFill>
        <p:spPr>
          <a:xfrm>
            <a:off x="1844992" y="1602491"/>
            <a:ext cx="7810500" cy="733425"/>
          </a:xfrm>
          <a:prstGeom prst="rect">
            <a:avLst/>
          </a:prstGeom>
        </p:spPr>
      </p:pic>
    </p:spTree>
    <p:extLst>
      <p:ext uri="{BB962C8B-B14F-4D97-AF65-F5344CB8AC3E}">
        <p14:creationId xmlns:p14="http://schemas.microsoft.com/office/powerpoint/2010/main" val="1569971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461665"/>
          </a:xfrm>
          <a:prstGeom prst="rect">
            <a:avLst/>
          </a:prstGeom>
          <a:noFill/>
        </p:spPr>
        <p:txBody>
          <a:bodyPr wrap="square">
            <a:spAutoFit/>
          </a:bodyPr>
          <a:lstStyle/>
          <a:p>
            <a:r>
              <a:rPr lang="en-US" sz="2400" b="1" dirty="0">
                <a:solidFill>
                  <a:schemeClr val="bg1"/>
                </a:solidFill>
              </a:rPr>
              <a:t>The Trinity of Trouble: Why the Problem Is Growing</a:t>
            </a:r>
          </a:p>
        </p:txBody>
      </p:sp>
      <p:pic>
        <p:nvPicPr>
          <p:cNvPr id="4" name="Picture 3">
            <a:extLst>
              <a:ext uri="{FF2B5EF4-FFF2-40B4-BE49-F238E27FC236}">
                <a16:creationId xmlns:a16="http://schemas.microsoft.com/office/drawing/2014/main" id="{84FF3F4C-3226-A9B2-B394-F9DB075A71C9}"/>
              </a:ext>
            </a:extLst>
          </p:cNvPr>
          <p:cNvPicPr>
            <a:picLocks noChangeAspect="1"/>
          </p:cNvPicPr>
          <p:nvPr/>
        </p:nvPicPr>
        <p:blipFill>
          <a:blip r:embed="rId2"/>
          <a:stretch>
            <a:fillRect/>
          </a:stretch>
        </p:blipFill>
        <p:spPr>
          <a:xfrm>
            <a:off x="422910" y="1924050"/>
            <a:ext cx="11235690" cy="4933950"/>
          </a:xfrm>
          <a:prstGeom prst="rect">
            <a:avLst/>
          </a:prstGeom>
        </p:spPr>
      </p:pic>
    </p:spTree>
    <p:extLst>
      <p:ext uri="{BB962C8B-B14F-4D97-AF65-F5344CB8AC3E}">
        <p14:creationId xmlns:p14="http://schemas.microsoft.com/office/powerpoint/2010/main" val="477192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461665"/>
          </a:xfrm>
          <a:prstGeom prst="rect">
            <a:avLst/>
          </a:prstGeom>
          <a:noFill/>
        </p:spPr>
        <p:txBody>
          <a:bodyPr wrap="square">
            <a:spAutoFit/>
          </a:bodyPr>
          <a:lstStyle/>
          <a:p>
            <a:r>
              <a:rPr lang="en-US" sz="2400" b="1" dirty="0">
                <a:solidFill>
                  <a:schemeClr val="bg1"/>
                </a:solidFill>
              </a:rPr>
              <a:t>Security Problems in Software</a:t>
            </a:r>
          </a:p>
        </p:txBody>
      </p:sp>
      <p:sp>
        <p:nvSpPr>
          <p:cNvPr id="7" name="TextBox 6">
            <a:extLst>
              <a:ext uri="{FF2B5EF4-FFF2-40B4-BE49-F238E27FC236}">
                <a16:creationId xmlns:a16="http://schemas.microsoft.com/office/drawing/2014/main" id="{CCAF8351-41F2-6142-2659-92113971D9D9}"/>
              </a:ext>
            </a:extLst>
          </p:cNvPr>
          <p:cNvSpPr txBox="1"/>
          <p:nvPr/>
        </p:nvSpPr>
        <p:spPr>
          <a:xfrm>
            <a:off x="1025842" y="3002071"/>
            <a:ext cx="10026968" cy="2308324"/>
          </a:xfrm>
          <a:prstGeom prst="rect">
            <a:avLst/>
          </a:prstGeom>
          <a:noFill/>
        </p:spPr>
        <p:txBody>
          <a:bodyPr wrap="square">
            <a:spAutoFit/>
          </a:bodyPr>
          <a:lstStyle/>
          <a:p>
            <a:pPr marL="285750" indent="-285750" algn="just">
              <a:buFont typeface="Wingdings" panose="05000000000000000000" pitchFamily="2" charset="2"/>
              <a:buChar char="Ø"/>
            </a:pPr>
            <a:r>
              <a:rPr lang="en-US" b="1" dirty="0"/>
              <a:t>Software security, that is, the process of designing, building, and testing software for security, gets to the heart of computer security by identifying and expunging problems in the software itself.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In this way, software security attempts to build software that can withstand attack proactively. </a:t>
            </a:r>
          </a:p>
        </p:txBody>
      </p:sp>
    </p:spTree>
    <p:extLst>
      <p:ext uri="{BB962C8B-B14F-4D97-AF65-F5344CB8AC3E}">
        <p14:creationId xmlns:p14="http://schemas.microsoft.com/office/powerpoint/2010/main" val="1092994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830997"/>
          </a:xfrm>
          <a:prstGeom prst="rect">
            <a:avLst/>
          </a:prstGeom>
          <a:noFill/>
        </p:spPr>
        <p:txBody>
          <a:bodyPr wrap="square">
            <a:spAutoFit/>
          </a:bodyPr>
          <a:lstStyle/>
          <a:p>
            <a:r>
              <a:rPr lang="en-US" sz="2400" b="1" dirty="0">
                <a:solidFill>
                  <a:schemeClr val="bg1"/>
                </a:solidFill>
              </a:rPr>
              <a:t>Bugs and Flaws and Defects, Oh My! </a:t>
            </a:r>
          </a:p>
          <a:p>
            <a:r>
              <a:rPr lang="en-US" sz="2400" b="1" dirty="0">
                <a:solidFill>
                  <a:schemeClr val="bg1"/>
                </a:solidFill>
              </a:rPr>
              <a:t>(Basic terminologies)</a:t>
            </a:r>
          </a:p>
        </p:txBody>
      </p:sp>
      <p:sp>
        <p:nvSpPr>
          <p:cNvPr id="2" name="TextBox 1">
            <a:extLst>
              <a:ext uri="{FF2B5EF4-FFF2-40B4-BE49-F238E27FC236}">
                <a16:creationId xmlns:a16="http://schemas.microsoft.com/office/drawing/2014/main" id="{CCAF8351-41F2-6142-2659-92113971D9D9}"/>
              </a:ext>
            </a:extLst>
          </p:cNvPr>
          <p:cNvSpPr txBox="1"/>
          <p:nvPr/>
        </p:nvSpPr>
        <p:spPr>
          <a:xfrm>
            <a:off x="579596" y="2201971"/>
            <a:ext cx="11032808" cy="3970318"/>
          </a:xfrm>
          <a:prstGeom prst="rect">
            <a:avLst/>
          </a:prstGeom>
          <a:noFill/>
        </p:spPr>
        <p:txBody>
          <a:bodyPr wrap="square">
            <a:spAutoFit/>
          </a:bodyPr>
          <a:lstStyle/>
          <a:p>
            <a:pPr marL="285750" indent="-285750" algn="just">
              <a:buFont typeface="Wingdings" panose="05000000000000000000" pitchFamily="2" charset="2"/>
              <a:buChar char="Ø"/>
            </a:pPr>
            <a:r>
              <a:rPr lang="en-US" b="1" dirty="0"/>
              <a:t>Defect: </a:t>
            </a:r>
            <a:r>
              <a:rPr lang="en-US" dirty="0"/>
              <a:t>Both implementation vulnerabilities and design vulnerabilities are defects. A defect is a problem that may lie dormant in software for years only to surface in a fielded system with major consequences.</a:t>
            </a:r>
          </a:p>
          <a:p>
            <a:pPr marL="285750" indent="-285750" algn="just">
              <a:buFont typeface="Wingdings" panose="05000000000000000000" pitchFamily="2" charset="2"/>
              <a:buChar char="Ø"/>
            </a:pPr>
            <a:r>
              <a:rPr lang="en-US" b="1" dirty="0"/>
              <a:t>Examples:</a:t>
            </a:r>
          </a:p>
          <a:p>
            <a:pPr marL="400050" indent="-400050" algn="just">
              <a:buFont typeface="+mj-lt"/>
              <a:buAutoNum type="romanUcPeriod"/>
            </a:pPr>
            <a:r>
              <a:rPr lang="en-US" b="1" dirty="0"/>
              <a:t> </a:t>
            </a:r>
            <a:r>
              <a:rPr lang="en-US" b="0" i="0" dirty="0">
                <a:solidFill>
                  <a:srgbClr val="202124"/>
                </a:solidFill>
                <a:effectLst/>
                <a:latin typeface="Google Sans"/>
              </a:rPr>
              <a:t>Usability defects hinder the user experience</a:t>
            </a:r>
            <a:r>
              <a:rPr lang="en-US" b="1" dirty="0">
                <a:solidFill>
                  <a:srgbClr val="202124"/>
                </a:solidFill>
                <a:latin typeface="Google Sans"/>
              </a:rPr>
              <a:t> </a:t>
            </a:r>
          </a:p>
          <a:p>
            <a:pPr marL="400050" indent="-400050" algn="just">
              <a:buFont typeface="+mj-lt"/>
              <a:buAutoNum type="romanUcPeriod"/>
            </a:pPr>
            <a:r>
              <a:rPr lang="en-US" b="1" dirty="0">
                <a:solidFill>
                  <a:srgbClr val="202124"/>
                </a:solidFill>
                <a:latin typeface="Google Sans"/>
              </a:rPr>
              <a:t> </a:t>
            </a:r>
            <a:r>
              <a:rPr lang="en-US" dirty="0">
                <a:solidFill>
                  <a:srgbClr val="040C28"/>
                </a:solidFill>
                <a:latin typeface="Google Sans"/>
              </a:rPr>
              <a:t>A</a:t>
            </a:r>
            <a:r>
              <a:rPr lang="en-US" b="0" i="0" dirty="0">
                <a:solidFill>
                  <a:srgbClr val="040C28"/>
                </a:solidFill>
                <a:effectLst/>
                <a:latin typeface="Google Sans"/>
              </a:rPr>
              <a:t> Login button doesn't allow users to login</a:t>
            </a: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Bug: </a:t>
            </a:r>
            <a:r>
              <a:rPr lang="en-US" dirty="0"/>
              <a:t>A bug is an implementation-level software problem. Bugs may exist in code but never be executed. Bugs are implementation-level problems that can be easily discovered and remedied.</a:t>
            </a:r>
          </a:p>
          <a:p>
            <a:pPr marL="285750" indent="-285750" algn="just">
              <a:buFont typeface="Wingdings" panose="05000000000000000000" pitchFamily="2" charset="2"/>
              <a:buChar char="Ø"/>
            </a:pPr>
            <a:r>
              <a:rPr lang="en-US" b="1" dirty="0"/>
              <a:t>Examples:</a:t>
            </a:r>
          </a:p>
          <a:p>
            <a:pPr marL="400050" indent="-400050" algn="just">
              <a:buFont typeface="+mj-lt"/>
              <a:buAutoNum type="romanUcPeriod"/>
            </a:pPr>
            <a:r>
              <a:rPr lang="en-US" dirty="0"/>
              <a:t>Buffer Overflow: An Implementation Bug. </a:t>
            </a:r>
          </a:p>
          <a:p>
            <a:pPr marL="400050" indent="-400050" algn="just">
              <a:buFont typeface="+mj-lt"/>
              <a:buAutoNum type="romanUcPeriod"/>
            </a:pPr>
            <a:r>
              <a:rPr lang="en-US" i="0" dirty="0">
                <a:solidFill>
                  <a:srgbClr val="202124"/>
                </a:solidFill>
                <a:effectLst/>
                <a:latin typeface="Google Sans"/>
              </a:rPr>
              <a:t>Hardware usage error</a:t>
            </a:r>
          </a:p>
          <a:p>
            <a:pPr marL="400050" indent="-400050" algn="just">
              <a:buFont typeface="+mj-lt"/>
              <a:buAutoNum type="romanUcPeriod"/>
            </a:pPr>
            <a:r>
              <a:rPr lang="en-US" i="0" dirty="0">
                <a:solidFill>
                  <a:srgbClr val="202124"/>
                </a:solidFill>
                <a:effectLst/>
                <a:latin typeface="Google Sans"/>
              </a:rPr>
              <a:t>Typos</a:t>
            </a:r>
            <a:endParaRPr lang="en-US" dirty="0"/>
          </a:p>
        </p:txBody>
      </p:sp>
    </p:spTree>
    <p:extLst>
      <p:ext uri="{BB962C8B-B14F-4D97-AF65-F5344CB8AC3E}">
        <p14:creationId xmlns:p14="http://schemas.microsoft.com/office/powerpoint/2010/main" val="1387908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243888" cy="830997"/>
          </a:xfrm>
          <a:prstGeom prst="rect">
            <a:avLst/>
          </a:prstGeom>
          <a:noFill/>
        </p:spPr>
        <p:txBody>
          <a:bodyPr wrap="square">
            <a:spAutoFit/>
          </a:bodyPr>
          <a:lstStyle/>
          <a:p>
            <a:r>
              <a:rPr lang="en-US" sz="2400" b="1" dirty="0">
                <a:solidFill>
                  <a:schemeClr val="bg1"/>
                </a:solidFill>
              </a:rPr>
              <a:t>Bugs and Flaws and Defects, Oh My! </a:t>
            </a:r>
          </a:p>
          <a:p>
            <a:r>
              <a:rPr lang="en-US" sz="2400" b="1" dirty="0">
                <a:solidFill>
                  <a:schemeClr val="bg1"/>
                </a:solidFill>
              </a:rPr>
              <a:t>(Basic terminology)</a:t>
            </a:r>
          </a:p>
        </p:txBody>
      </p:sp>
      <p:sp>
        <p:nvSpPr>
          <p:cNvPr id="2" name="TextBox 1">
            <a:extLst>
              <a:ext uri="{FF2B5EF4-FFF2-40B4-BE49-F238E27FC236}">
                <a16:creationId xmlns:a16="http://schemas.microsoft.com/office/drawing/2014/main" id="{CCAF8351-41F2-6142-2659-92113971D9D9}"/>
              </a:ext>
            </a:extLst>
          </p:cNvPr>
          <p:cNvSpPr txBox="1"/>
          <p:nvPr/>
        </p:nvSpPr>
        <p:spPr>
          <a:xfrm>
            <a:off x="728662" y="2613451"/>
            <a:ext cx="10026968" cy="3416320"/>
          </a:xfrm>
          <a:prstGeom prst="rect">
            <a:avLst/>
          </a:prstGeom>
          <a:noFill/>
        </p:spPr>
        <p:txBody>
          <a:bodyPr wrap="square">
            <a:spAutoFit/>
          </a:bodyPr>
          <a:lstStyle/>
          <a:p>
            <a:pPr marL="285750" indent="-285750" algn="just">
              <a:buFont typeface="Wingdings" panose="05000000000000000000" pitchFamily="2" charset="2"/>
              <a:buChar char="Ø"/>
            </a:pPr>
            <a:r>
              <a:rPr lang="en-US" b="1" dirty="0"/>
              <a:t>Flaw: </a:t>
            </a:r>
            <a:r>
              <a:rPr lang="en-US" dirty="0"/>
              <a:t>A flaw is a problem at a deeper level. Flaws are often much more subtle than simply an off-by-one error in an array reference or use of an incorrect system call. A flaw is certainly instantiated in software code, but it is also present (or absent!) at the design level.</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b="1" dirty="0"/>
              <a:t>Examples:</a:t>
            </a:r>
          </a:p>
          <a:p>
            <a:pPr algn="just"/>
            <a:endParaRPr lang="en-US" b="1" dirty="0"/>
          </a:p>
          <a:p>
            <a:pPr marL="400050" indent="-400050" algn="just">
              <a:buFont typeface="+mj-lt"/>
              <a:buAutoNum type="romanUcPeriod"/>
            </a:pPr>
            <a:r>
              <a:rPr lang="en-US" dirty="0"/>
              <a:t>A number of classic flaws exist in error-handling and recovery systems that fail in an insecure or inefficient fashion.</a:t>
            </a:r>
            <a:endParaRPr lang="en-US" b="0" i="0" dirty="0">
              <a:solidFill>
                <a:srgbClr val="202124"/>
              </a:solidFill>
              <a:effectLst/>
              <a:latin typeface="Google Sans"/>
            </a:endParaRPr>
          </a:p>
          <a:p>
            <a:pPr marL="400050" indent="-400050" algn="just">
              <a:buFont typeface="+mj-lt"/>
              <a:buAutoNum type="romanUcPeriod"/>
            </a:pPr>
            <a:r>
              <a:rPr lang="en-US" b="0" i="0" dirty="0">
                <a:solidFill>
                  <a:srgbClr val="202124"/>
                </a:solidFill>
                <a:effectLst/>
                <a:latin typeface="Google Sans"/>
              </a:rPr>
              <a:t>Software Crash</a:t>
            </a:r>
            <a:endParaRPr lang="en-US" dirty="0"/>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b="1" dirty="0"/>
              <a:t>Bugs + Flaws leads to Risks</a:t>
            </a:r>
          </a:p>
        </p:txBody>
      </p:sp>
    </p:spTree>
    <p:extLst>
      <p:ext uri="{BB962C8B-B14F-4D97-AF65-F5344CB8AC3E}">
        <p14:creationId xmlns:p14="http://schemas.microsoft.com/office/powerpoint/2010/main" val="3848936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5" name="Picture 4">
            <a:extLst>
              <a:ext uri="{FF2B5EF4-FFF2-40B4-BE49-F238E27FC236}">
                <a16:creationId xmlns:a16="http://schemas.microsoft.com/office/drawing/2014/main" id="{8204B159-F0CF-9920-81E5-F95F5F2BB52F}"/>
              </a:ext>
            </a:extLst>
          </p:cNvPr>
          <p:cNvPicPr>
            <a:picLocks noChangeAspect="1"/>
          </p:cNvPicPr>
          <p:nvPr/>
        </p:nvPicPr>
        <p:blipFill>
          <a:blip r:embed="rId2"/>
          <a:stretch>
            <a:fillRect/>
          </a:stretch>
        </p:blipFill>
        <p:spPr>
          <a:xfrm>
            <a:off x="518398" y="1922263"/>
            <a:ext cx="11155204" cy="4848225"/>
          </a:xfrm>
          <a:prstGeom prst="rect">
            <a:avLst/>
          </a:prstGeom>
        </p:spPr>
      </p:pic>
    </p:spTree>
    <p:extLst>
      <p:ext uri="{BB962C8B-B14F-4D97-AF65-F5344CB8AC3E}">
        <p14:creationId xmlns:p14="http://schemas.microsoft.com/office/powerpoint/2010/main" val="3864532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8" name="Picture 7">
            <a:extLst>
              <a:ext uri="{FF2B5EF4-FFF2-40B4-BE49-F238E27FC236}">
                <a16:creationId xmlns:a16="http://schemas.microsoft.com/office/drawing/2014/main" id="{9F4E4DB1-D7E8-16A6-1ADF-77FD2CD9D082}"/>
              </a:ext>
            </a:extLst>
          </p:cNvPr>
          <p:cNvPicPr>
            <a:picLocks noChangeAspect="1"/>
          </p:cNvPicPr>
          <p:nvPr/>
        </p:nvPicPr>
        <p:blipFill>
          <a:blip r:embed="rId2"/>
          <a:stretch>
            <a:fillRect/>
          </a:stretch>
        </p:blipFill>
        <p:spPr>
          <a:xfrm>
            <a:off x="514351" y="1933575"/>
            <a:ext cx="11098530" cy="4547235"/>
          </a:xfrm>
          <a:prstGeom prst="rect">
            <a:avLst/>
          </a:prstGeom>
        </p:spPr>
      </p:pic>
    </p:spTree>
    <p:extLst>
      <p:ext uri="{BB962C8B-B14F-4D97-AF65-F5344CB8AC3E}">
        <p14:creationId xmlns:p14="http://schemas.microsoft.com/office/powerpoint/2010/main" val="650070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4" name="Picture 3">
            <a:extLst>
              <a:ext uri="{FF2B5EF4-FFF2-40B4-BE49-F238E27FC236}">
                <a16:creationId xmlns:a16="http://schemas.microsoft.com/office/drawing/2014/main" id="{46597760-0551-E502-A246-655976F31B0D}"/>
              </a:ext>
            </a:extLst>
          </p:cNvPr>
          <p:cNvPicPr>
            <a:picLocks noChangeAspect="1"/>
          </p:cNvPicPr>
          <p:nvPr/>
        </p:nvPicPr>
        <p:blipFill>
          <a:blip r:embed="rId2"/>
          <a:stretch>
            <a:fillRect/>
          </a:stretch>
        </p:blipFill>
        <p:spPr>
          <a:xfrm>
            <a:off x="369570" y="1897380"/>
            <a:ext cx="11452859" cy="4743450"/>
          </a:xfrm>
          <a:prstGeom prst="rect">
            <a:avLst/>
          </a:prstGeom>
        </p:spPr>
      </p:pic>
    </p:spTree>
    <p:extLst>
      <p:ext uri="{BB962C8B-B14F-4D97-AF65-F5344CB8AC3E}">
        <p14:creationId xmlns:p14="http://schemas.microsoft.com/office/powerpoint/2010/main" val="511922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7" name="Picture 6">
            <a:extLst>
              <a:ext uri="{FF2B5EF4-FFF2-40B4-BE49-F238E27FC236}">
                <a16:creationId xmlns:a16="http://schemas.microsoft.com/office/drawing/2014/main" id="{CD7AFFFC-77AE-1089-2C3E-D137331A16F0}"/>
              </a:ext>
            </a:extLst>
          </p:cNvPr>
          <p:cNvPicPr>
            <a:picLocks noChangeAspect="1"/>
          </p:cNvPicPr>
          <p:nvPr/>
        </p:nvPicPr>
        <p:blipFill>
          <a:blip r:embed="rId2"/>
          <a:stretch>
            <a:fillRect/>
          </a:stretch>
        </p:blipFill>
        <p:spPr>
          <a:xfrm>
            <a:off x="480060" y="1895475"/>
            <a:ext cx="11155680" cy="4825365"/>
          </a:xfrm>
          <a:prstGeom prst="rect">
            <a:avLst/>
          </a:prstGeom>
        </p:spPr>
      </p:pic>
    </p:spTree>
    <p:extLst>
      <p:ext uri="{BB962C8B-B14F-4D97-AF65-F5344CB8AC3E}">
        <p14:creationId xmlns:p14="http://schemas.microsoft.com/office/powerpoint/2010/main" val="2132323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4" name="Picture 3">
            <a:extLst>
              <a:ext uri="{FF2B5EF4-FFF2-40B4-BE49-F238E27FC236}">
                <a16:creationId xmlns:a16="http://schemas.microsoft.com/office/drawing/2014/main" id="{7B7DFA2E-DE38-ED39-9683-F3A4C3126A5D}"/>
              </a:ext>
            </a:extLst>
          </p:cNvPr>
          <p:cNvPicPr>
            <a:picLocks noChangeAspect="1"/>
          </p:cNvPicPr>
          <p:nvPr/>
        </p:nvPicPr>
        <p:blipFill>
          <a:blip r:embed="rId2"/>
          <a:stretch>
            <a:fillRect/>
          </a:stretch>
        </p:blipFill>
        <p:spPr>
          <a:xfrm>
            <a:off x="594360" y="1885950"/>
            <a:ext cx="11167109" cy="4972050"/>
          </a:xfrm>
          <a:prstGeom prst="rect">
            <a:avLst/>
          </a:prstGeom>
        </p:spPr>
      </p:pic>
    </p:spTree>
    <p:extLst>
      <p:ext uri="{BB962C8B-B14F-4D97-AF65-F5344CB8AC3E}">
        <p14:creationId xmlns:p14="http://schemas.microsoft.com/office/powerpoint/2010/main" val="3876054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5" name="Picture 4">
            <a:extLst>
              <a:ext uri="{FF2B5EF4-FFF2-40B4-BE49-F238E27FC236}">
                <a16:creationId xmlns:a16="http://schemas.microsoft.com/office/drawing/2014/main" id="{E71C2425-B8AF-B3DE-8998-953424DC74E8}"/>
              </a:ext>
            </a:extLst>
          </p:cNvPr>
          <p:cNvPicPr>
            <a:picLocks noChangeAspect="1"/>
          </p:cNvPicPr>
          <p:nvPr/>
        </p:nvPicPr>
        <p:blipFill>
          <a:blip r:embed="rId2"/>
          <a:stretch>
            <a:fillRect/>
          </a:stretch>
        </p:blipFill>
        <p:spPr>
          <a:xfrm>
            <a:off x="426720" y="2047875"/>
            <a:ext cx="11338559" cy="4810125"/>
          </a:xfrm>
          <a:prstGeom prst="rect">
            <a:avLst/>
          </a:prstGeom>
        </p:spPr>
      </p:pic>
    </p:spTree>
    <p:extLst>
      <p:ext uri="{BB962C8B-B14F-4D97-AF65-F5344CB8AC3E}">
        <p14:creationId xmlns:p14="http://schemas.microsoft.com/office/powerpoint/2010/main" val="7627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Solving the Problem: The Three Pillars of Software Security </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pic>
        <p:nvPicPr>
          <p:cNvPr id="7" name="Picture 6">
            <a:extLst>
              <a:ext uri="{FF2B5EF4-FFF2-40B4-BE49-F238E27FC236}">
                <a16:creationId xmlns:a16="http://schemas.microsoft.com/office/drawing/2014/main" id="{008B20FC-9EBF-A600-0804-0D66EF68B536}"/>
              </a:ext>
            </a:extLst>
          </p:cNvPr>
          <p:cNvPicPr>
            <a:picLocks noChangeAspect="1"/>
          </p:cNvPicPr>
          <p:nvPr/>
        </p:nvPicPr>
        <p:blipFill>
          <a:blip r:embed="rId2"/>
          <a:stretch>
            <a:fillRect/>
          </a:stretch>
        </p:blipFill>
        <p:spPr>
          <a:xfrm>
            <a:off x="422911" y="1867852"/>
            <a:ext cx="11338560" cy="4905375"/>
          </a:xfrm>
          <a:prstGeom prst="rect">
            <a:avLst/>
          </a:prstGeom>
        </p:spPr>
      </p:pic>
    </p:spTree>
    <p:extLst>
      <p:ext uri="{BB962C8B-B14F-4D97-AF65-F5344CB8AC3E}">
        <p14:creationId xmlns:p14="http://schemas.microsoft.com/office/powerpoint/2010/main" val="3900358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The Rise of Security Engineering</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sp>
        <p:nvSpPr>
          <p:cNvPr id="4" name="TextBox 3">
            <a:extLst>
              <a:ext uri="{FF2B5EF4-FFF2-40B4-BE49-F238E27FC236}">
                <a16:creationId xmlns:a16="http://schemas.microsoft.com/office/drawing/2014/main" id="{DC124FFE-87EC-2E5D-E98F-EE54850BDE36}"/>
              </a:ext>
            </a:extLst>
          </p:cNvPr>
          <p:cNvSpPr txBox="1"/>
          <p:nvPr/>
        </p:nvSpPr>
        <p:spPr>
          <a:xfrm>
            <a:off x="433754" y="2263115"/>
            <a:ext cx="11301046" cy="4524315"/>
          </a:xfrm>
          <a:prstGeom prst="rect">
            <a:avLst/>
          </a:prstGeom>
          <a:noFill/>
        </p:spPr>
        <p:txBody>
          <a:bodyPr wrap="square">
            <a:spAutoFit/>
          </a:bodyPr>
          <a:lstStyle/>
          <a:p>
            <a:pPr marL="285750" indent="-285750" algn="just">
              <a:buFont typeface="Wingdings" panose="05000000000000000000" pitchFamily="2" charset="2"/>
              <a:buChar char="Ø"/>
            </a:pPr>
            <a:r>
              <a:rPr lang="en-US" b="1" dirty="0"/>
              <a:t>Designers of modern systems must take security into account proactively. This is especially true when it comes to software because bad software lies at the heart of a majority of computer security problems.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Software defects come in two flavors—</a:t>
            </a:r>
            <a:r>
              <a:rPr lang="en-US" b="1" dirty="0" err="1"/>
              <a:t>designlevel</a:t>
            </a:r>
            <a:r>
              <a:rPr lang="en-US" b="1" dirty="0"/>
              <a:t> flaws and implementation bugs.</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To address both kinds of defects, we must build better software and design more secure systems from the ground up.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Most computer security practitioners today are operations people. They are adept at designing reasonable network architectures, provisioning firewalls, and keeping networks up.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This leads to the adoption of weak reactive technologies (think "application security testing" tools). Tools like those target the right problem (software) with the wrong solution (outside in testing). </a:t>
            </a:r>
          </a:p>
        </p:txBody>
      </p:sp>
    </p:spTree>
    <p:extLst>
      <p:ext uri="{BB962C8B-B14F-4D97-AF65-F5344CB8AC3E}">
        <p14:creationId xmlns:p14="http://schemas.microsoft.com/office/powerpoint/2010/main" val="3882163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The Rise of Security Engineering</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sp>
        <p:nvSpPr>
          <p:cNvPr id="4" name="TextBox 3">
            <a:extLst>
              <a:ext uri="{FF2B5EF4-FFF2-40B4-BE49-F238E27FC236}">
                <a16:creationId xmlns:a16="http://schemas.microsoft.com/office/drawing/2014/main" id="{DC124FFE-87EC-2E5D-E98F-EE54850BDE36}"/>
              </a:ext>
            </a:extLst>
          </p:cNvPr>
          <p:cNvSpPr txBox="1"/>
          <p:nvPr/>
        </p:nvSpPr>
        <p:spPr>
          <a:xfrm>
            <a:off x="445476" y="2345177"/>
            <a:ext cx="11547231" cy="3970318"/>
          </a:xfrm>
          <a:prstGeom prst="rect">
            <a:avLst/>
          </a:prstGeom>
          <a:noFill/>
        </p:spPr>
        <p:txBody>
          <a:bodyPr wrap="square">
            <a:spAutoFit/>
          </a:bodyPr>
          <a:lstStyle/>
          <a:p>
            <a:pPr marL="285750" indent="-285750" algn="just">
              <a:buFont typeface="Wingdings" panose="05000000000000000000" pitchFamily="2" charset="2"/>
              <a:buChar char="Ø"/>
            </a:pPr>
            <a:r>
              <a:rPr lang="en-US" b="1" dirty="0"/>
              <a:t>Fortunately, things are beginning to change in security. Practitioners understand that software security is something we need to work hard on.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If we are to build systems that can be properly operated, we must involve the builders of systems in security. This starts with education, where security remains an often-unmentioned specialty, especially in the software arena.</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Every modern security department needs to think seriously about security engineering.</a:t>
            </a:r>
          </a:p>
          <a:p>
            <a:pPr algn="just"/>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The best departments already have staff devoted to software security. Others are beginning to look at the problem of security engineering</a:t>
            </a:r>
          </a:p>
        </p:txBody>
      </p:sp>
    </p:spTree>
    <p:extLst>
      <p:ext uri="{BB962C8B-B14F-4D97-AF65-F5344CB8AC3E}">
        <p14:creationId xmlns:p14="http://schemas.microsoft.com/office/powerpoint/2010/main" val="2917016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Software Security Is Everyone's Job</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sp>
        <p:nvSpPr>
          <p:cNvPr id="4" name="TextBox 3">
            <a:extLst>
              <a:ext uri="{FF2B5EF4-FFF2-40B4-BE49-F238E27FC236}">
                <a16:creationId xmlns:a16="http://schemas.microsoft.com/office/drawing/2014/main" id="{DC124FFE-87EC-2E5D-E98F-EE54850BDE36}"/>
              </a:ext>
            </a:extLst>
          </p:cNvPr>
          <p:cNvSpPr txBox="1"/>
          <p:nvPr/>
        </p:nvSpPr>
        <p:spPr>
          <a:xfrm>
            <a:off x="445476" y="2345176"/>
            <a:ext cx="11658894" cy="3416320"/>
          </a:xfrm>
          <a:prstGeom prst="rect">
            <a:avLst/>
          </a:prstGeom>
          <a:noFill/>
        </p:spPr>
        <p:txBody>
          <a:bodyPr wrap="square">
            <a:spAutoFit/>
          </a:bodyPr>
          <a:lstStyle/>
          <a:p>
            <a:pPr marL="285750" indent="-285750" algn="just">
              <a:buFont typeface="Wingdings" panose="05000000000000000000" pitchFamily="2" charset="2"/>
              <a:buChar char="Ø"/>
            </a:pPr>
            <a:r>
              <a:rPr lang="en-US" b="1" dirty="0"/>
              <a:t>Connectivity and distributed computation is so pervasive that the only way to begin to secure our computing infrastructure is to enlist everyone.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Builders must practice security engineering, ensuring that the systems we build are defensible and not riddled with holes (especially when it comes to the software).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Operations people must continue to architect reasonable networks, defend them, and keep them up.</a:t>
            </a:r>
          </a:p>
          <a:p>
            <a:pPr marL="285750" indent="-285750" algn="just">
              <a:buFont typeface="Wingdings" panose="05000000000000000000" pitchFamily="2" charset="2"/>
              <a:buChar char="Ø"/>
            </a:pPr>
            <a:endParaRPr lang="en-US" b="1" dirty="0"/>
          </a:p>
        </p:txBody>
      </p:sp>
    </p:spTree>
    <p:extLst>
      <p:ext uri="{BB962C8B-B14F-4D97-AF65-F5344CB8AC3E}">
        <p14:creationId xmlns:p14="http://schemas.microsoft.com/office/powerpoint/2010/main" val="397799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4B0557-7E20-126A-3DEB-0FE3A8BB974D}"/>
              </a:ext>
            </a:extLst>
          </p:cNvPr>
          <p:cNvSpPr txBox="1"/>
          <p:nvPr/>
        </p:nvSpPr>
        <p:spPr>
          <a:xfrm>
            <a:off x="1025842" y="1044058"/>
            <a:ext cx="8952548" cy="461665"/>
          </a:xfrm>
          <a:prstGeom prst="rect">
            <a:avLst/>
          </a:prstGeom>
          <a:noFill/>
        </p:spPr>
        <p:txBody>
          <a:bodyPr wrap="square">
            <a:spAutoFit/>
          </a:bodyPr>
          <a:lstStyle/>
          <a:p>
            <a:r>
              <a:rPr lang="en-US" sz="2400" b="1" dirty="0">
                <a:solidFill>
                  <a:schemeClr val="bg1"/>
                </a:solidFill>
              </a:rPr>
              <a:t>Software Security Is Everyone's Job</a:t>
            </a:r>
          </a:p>
        </p:txBody>
      </p:sp>
      <p:sp>
        <p:nvSpPr>
          <p:cNvPr id="3" name="TextBox 2">
            <a:extLst>
              <a:ext uri="{FF2B5EF4-FFF2-40B4-BE49-F238E27FC236}">
                <a16:creationId xmlns:a16="http://schemas.microsoft.com/office/drawing/2014/main" id="{CCAF8351-41F2-6142-2659-92113971D9D9}"/>
              </a:ext>
            </a:extLst>
          </p:cNvPr>
          <p:cNvSpPr txBox="1"/>
          <p:nvPr/>
        </p:nvSpPr>
        <p:spPr>
          <a:xfrm>
            <a:off x="728662" y="2613451"/>
            <a:ext cx="10026968" cy="369332"/>
          </a:xfrm>
          <a:prstGeom prst="rect">
            <a:avLst/>
          </a:prstGeom>
          <a:noFill/>
        </p:spPr>
        <p:txBody>
          <a:bodyPr wrap="square">
            <a:spAutoFit/>
          </a:bodyPr>
          <a:lstStyle/>
          <a:p>
            <a:pPr marL="285750" indent="-285750" algn="just">
              <a:buFont typeface="Wingdings" panose="05000000000000000000" pitchFamily="2" charset="2"/>
              <a:buChar char="Ø"/>
            </a:pPr>
            <a:endParaRPr lang="en-US" b="1" dirty="0"/>
          </a:p>
        </p:txBody>
      </p:sp>
      <p:sp>
        <p:nvSpPr>
          <p:cNvPr id="4" name="TextBox 3">
            <a:extLst>
              <a:ext uri="{FF2B5EF4-FFF2-40B4-BE49-F238E27FC236}">
                <a16:creationId xmlns:a16="http://schemas.microsoft.com/office/drawing/2014/main" id="{DC124FFE-87EC-2E5D-E98F-EE54850BDE36}"/>
              </a:ext>
            </a:extLst>
          </p:cNvPr>
          <p:cNvSpPr txBox="1"/>
          <p:nvPr/>
        </p:nvSpPr>
        <p:spPr>
          <a:xfrm>
            <a:off x="445476" y="2345176"/>
            <a:ext cx="11624604" cy="3693319"/>
          </a:xfrm>
          <a:prstGeom prst="rect">
            <a:avLst/>
          </a:prstGeom>
          <a:noFill/>
        </p:spPr>
        <p:txBody>
          <a:bodyPr wrap="square">
            <a:spAutoFit/>
          </a:bodyPr>
          <a:lstStyle/>
          <a:p>
            <a:pPr marL="285750" indent="-285750" algn="just">
              <a:buFont typeface="Wingdings" panose="05000000000000000000" pitchFamily="2" charset="2"/>
              <a:buChar char="Ø"/>
            </a:pPr>
            <a:r>
              <a:rPr lang="en-US" b="1" dirty="0"/>
              <a:t>Administrators must understand the distributed nature of modern systems and begin to practice the principle of least privilege.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Users must understand that software can be secure so that they can take their business to software providers who share their values. (Witness the rise of Firefox.) Users must also understand that they are the last bastion of defense in any security design and that they need to make tradeoffs for better security.</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 Executives must understand how early investment in security design and security analysis affects the degree to which users will trust their products. </a:t>
            </a:r>
          </a:p>
        </p:txBody>
      </p:sp>
    </p:spTree>
    <p:extLst>
      <p:ext uri="{BB962C8B-B14F-4D97-AF65-F5344CB8AC3E}">
        <p14:creationId xmlns:p14="http://schemas.microsoft.com/office/powerpoint/2010/main" val="36887735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1529</TotalTime>
  <Words>866</Words>
  <Application>Microsoft Office PowerPoint</Application>
  <PresentationFormat>Widescreen</PresentationFormat>
  <Paragraphs>88</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Century Gothic</vt:lpstr>
      <vt:lpstr>Google Sans</vt:lpstr>
      <vt:lpstr>Wingdings</vt:lpstr>
      <vt:lpstr>Wingdings 3</vt:lpstr>
      <vt:lpstr>Ion Boardroom</vt:lpstr>
      <vt:lpstr>    Secure Software Design and Development   (Part I: Software Security Fundamentals)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Cryptography I IS-842 Fall Semester 2019</dc:title>
  <dc:creator>Dr. Shahzad Saleem</dc:creator>
  <cp:lastModifiedBy>Naveed Husain</cp:lastModifiedBy>
  <cp:revision>122</cp:revision>
  <dcterms:created xsi:type="dcterms:W3CDTF">2019-09-02T01:59:48Z</dcterms:created>
  <dcterms:modified xsi:type="dcterms:W3CDTF">2024-03-08T07:17:09Z</dcterms:modified>
</cp:coreProperties>
</file>