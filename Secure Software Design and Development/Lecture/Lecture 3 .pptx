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1"/>
  </p:notesMasterIdLst>
  <p:sldIdLst>
    <p:sldId id="274" r:id="rId2"/>
    <p:sldId id="275" r:id="rId3"/>
    <p:sldId id="276" r:id="rId4"/>
    <p:sldId id="284" r:id="rId5"/>
    <p:sldId id="277" r:id="rId6"/>
    <p:sldId id="278" r:id="rId7"/>
    <p:sldId id="279" r:id="rId8"/>
    <p:sldId id="280" r:id="rId9"/>
    <p:sldId id="281" r:id="rId10"/>
    <p:sldId id="282" r:id="rId11"/>
    <p:sldId id="283" r:id="rId12"/>
    <p:sldId id="285" r:id="rId13"/>
    <p:sldId id="286" r:id="rId14"/>
    <p:sldId id="287" r:id="rId15"/>
    <p:sldId id="288" r:id="rId16"/>
    <p:sldId id="289" r:id="rId17"/>
    <p:sldId id="290" r:id="rId18"/>
    <p:sldId id="291" r:id="rId19"/>
    <p:sldId id="29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537" autoAdjust="0"/>
  </p:normalViewPr>
  <p:slideViewPr>
    <p:cSldViewPr snapToGrid="0">
      <p:cViewPr varScale="1">
        <p:scale>
          <a:sx n="84" d="100"/>
          <a:sy n="84" d="100"/>
        </p:scale>
        <p:origin x="4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1A4C0-90F6-47D3-BF81-04CE1479F5DB}" type="datetimeFigureOut">
              <a:rPr lang="en-US" smtClean="0"/>
              <a:t>3/21/2024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B05F4D-AD90-4C54-886B-252517105F56}" type="slidenum">
              <a:rPr lang="en-US" smtClean="0"/>
              <a:t>‹#›</a:t>
            </a:fld>
            <a:endParaRPr lang="en-US"/>
          </a:p>
        </p:txBody>
      </p:sp>
    </p:spTree>
    <p:extLst>
      <p:ext uri="{BB962C8B-B14F-4D97-AF65-F5344CB8AC3E}">
        <p14:creationId xmlns:p14="http://schemas.microsoft.com/office/powerpoint/2010/main" val="2887593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1B05F4D-AD90-4C54-886B-252517105F56}" type="slidenum">
              <a:rPr lang="en-US" smtClean="0"/>
              <a:t>1</a:t>
            </a:fld>
            <a:endParaRPr lang="en-US"/>
          </a:p>
        </p:txBody>
      </p:sp>
    </p:spTree>
    <p:extLst>
      <p:ext uri="{BB962C8B-B14F-4D97-AF65-F5344CB8AC3E}">
        <p14:creationId xmlns:p14="http://schemas.microsoft.com/office/powerpoint/2010/main" val="39807220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3/21/2024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dirty="0"/>
              <a:t>
              </a:t>
            </a: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3/21/2024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3/21/2024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3/21/2024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3/21/2024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3/21/2024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3/21/2024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3/21/2024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3/21/2024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dirty="0"/>
              <a:t>
              </a:t>
            </a: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88427" y="4339113"/>
            <a:ext cx="8825658" cy="1700213"/>
          </a:xfrm>
        </p:spPr>
        <p:txBody>
          <a:bodyPr/>
          <a:lstStyle/>
          <a:p>
            <a:pPr algn="ctr"/>
            <a:br>
              <a:rPr lang="en-US" sz="4800" dirty="0"/>
            </a:br>
            <a:br>
              <a:rPr lang="en-US" sz="4800" dirty="0"/>
            </a:br>
            <a:br>
              <a:rPr lang="en-US" sz="4800" dirty="0"/>
            </a:br>
            <a:br>
              <a:rPr lang="en-US" sz="4800" dirty="0"/>
            </a:br>
            <a:r>
              <a:rPr lang="en-US" sz="4800" dirty="0"/>
              <a:t>Secure Software Design and Development </a:t>
            </a:r>
            <a:br>
              <a:rPr lang="en-US" sz="4800" dirty="0"/>
            </a:br>
            <a:r>
              <a:rPr lang="en-US" sz="4000" dirty="0"/>
              <a:t> </a:t>
            </a:r>
            <a:r>
              <a:rPr lang="en-US" sz="4800" dirty="0"/>
              <a:t>(Part II:  Seven Touchpoints for Software Security) </a:t>
            </a:r>
            <a:br>
              <a:rPr lang="en-US" sz="4800" dirty="0"/>
            </a:br>
            <a:br>
              <a:rPr lang="en-US" sz="4800" dirty="0"/>
            </a:br>
            <a:br>
              <a:rPr lang="en-US" sz="4800" dirty="0"/>
            </a:br>
            <a:endParaRPr lang="en-US" sz="4800" dirty="0"/>
          </a:p>
        </p:txBody>
      </p:sp>
      <p:sp>
        <p:nvSpPr>
          <p:cNvPr id="3" name="Subtitle 2"/>
          <p:cNvSpPr>
            <a:spLocks noGrp="1"/>
          </p:cNvSpPr>
          <p:nvPr>
            <p:ph type="subTitle" idx="1"/>
          </p:nvPr>
        </p:nvSpPr>
        <p:spPr>
          <a:xfrm>
            <a:off x="1683171" y="4091940"/>
            <a:ext cx="8825658" cy="2967037"/>
          </a:xfrm>
        </p:spPr>
        <p:txBody>
          <a:bodyPr>
            <a:normAutofit/>
          </a:bodyPr>
          <a:lstStyle/>
          <a:p>
            <a:pPr algn="ctr" eaLnBrk="1" fontAlgn="auto" hangingPunct="1">
              <a:spcAft>
                <a:spcPts val="0"/>
              </a:spcAft>
              <a:defRPr/>
            </a:pPr>
            <a:r>
              <a:rPr lang="en-AU" altLang="en-US" sz="2600" b="1" dirty="0">
                <a:solidFill>
                  <a:schemeClr val="bg1"/>
                </a:solidFill>
              </a:rPr>
              <a:t>Chapter 3. </a:t>
            </a:r>
            <a:r>
              <a:rPr lang="en-US" altLang="en-US" sz="2600" b="1" dirty="0">
                <a:solidFill>
                  <a:schemeClr val="bg1"/>
                </a:solidFill>
              </a:rPr>
              <a:t>Introduction to Software Security Touchpoints</a:t>
            </a:r>
            <a:endParaRPr lang="en-AU" altLang="en-US" sz="2600" b="1" dirty="0">
              <a:solidFill>
                <a:schemeClr val="bg1"/>
              </a:solidFill>
            </a:endParaRPr>
          </a:p>
          <a:p>
            <a:pPr algn="ctr" eaLnBrk="1" fontAlgn="auto" hangingPunct="1">
              <a:spcAft>
                <a:spcPts val="0"/>
              </a:spcAft>
              <a:defRPr/>
            </a:pPr>
            <a:r>
              <a:rPr lang="en-AU" altLang="en-US" sz="1200" b="1" dirty="0">
                <a:solidFill>
                  <a:schemeClr val="bg1"/>
                </a:solidFill>
              </a:rPr>
              <a:t>Book: </a:t>
            </a:r>
            <a:r>
              <a:rPr lang="en-US" sz="1200" dirty="0"/>
              <a:t>Software Security: Building Security In, 1st Edition by Gary McGraw</a:t>
            </a:r>
            <a:endParaRPr lang="en-AU" altLang="en-US" sz="1200" b="1" dirty="0">
              <a:solidFill>
                <a:schemeClr val="bg1"/>
              </a:solidFill>
            </a:endParaRPr>
          </a:p>
          <a:p>
            <a:endParaRPr lang="en-US" dirty="0"/>
          </a:p>
        </p:txBody>
      </p:sp>
    </p:spTree>
    <p:extLst>
      <p:ext uri="{BB962C8B-B14F-4D97-AF65-F5344CB8AC3E}">
        <p14:creationId xmlns:p14="http://schemas.microsoft.com/office/powerpoint/2010/main" val="266541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197292" y="844034"/>
            <a:ext cx="6632257" cy="1015663"/>
          </a:xfrm>
          <a:prstGeom prst="rect">
            <a:avLst/>
          </a:prstGeom>
          <a:noFill/>
        </p:spPr>
        <p:txBody>
          <a:bodyPr wrap="square">
            <a:spAutoFit/>
          </a:bodyPr>
          <a:lstStyle/>
          <a:p>
            <a:r>
              <a:rPr lang="en-US" sz="3000" b="1" dirty="0">
                <a:solidFill>
                  <a:schemeClr val="bg1"/>
                </a:solidFill>
              </a:rPr>
              <a:t>Seven Touchpoints</a:t>
            </a:r>
          </a:p>
          <a:p>
            <a:endParaRPr lang="en-US" sz="3000" b="1" dirty="0">
              <a:solidFill>
                <a:schemeClr val="bg1"/>
              </a:solidFill>
            </a:endParaRPr>
          </a:p>
        </p:txBody>
      </p:sp>
      <p:pic>
        <p:nvPicPr>
          <p:cNvPr id="6" name="Picture 5">
            <a:extLst>
              <a:ext uri="{FF2B5EF4-FFF2-40B4-BE49-F238E27FC236}">
                <a16:creationId xmlns:a16="http://schemas.microsoft.com/office/drawing/2014/main" id="{ED1B5F5D-626A-B328-5927-A2F7F5E285C5}"/>
              </a:ext>
            </a:extLst>
          </p:cNvPr>
          <p:cNvPicPr>
            <a:picLocks noChangeAspect="1"/>
          </p:cNvPicPr>
          <p:nvPr/>
        </p:nvPicPr>
        <p:blipFill>
          <a:blip r:embed="rId2"/>
          <a:stretch>
            <a:fillRect/>
          </a:stretch>
        </p:blipFill>
        <p:spPr>
          <a:xfrm>
            <a:off x="421005" y="2078355"/>
            <a:ext cx="11349990" cy="4541577"/>
          </a:xfrm>
          <a:prstGeom prst="rect">
            <a:avLst/>
          </a:prstGeom>
        </p:spPr>
      </p:pic>
    </p:spTree>
    <p:extLst>
      <p:ext uri="{BB962C8B-B14F-4D97-AF65-F5344CB8AC3E}">
        <p14:creationId xmlns:p14="http://schemas.microsoft.com/office/powerpoint/2010/main" val="2231809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Seven Touchpoints</a:t>
            </a:r>
          </a:p>
        </p:txBody>
      </p:sp>
      <p:pic>
        <p:nvPicPr>
          <p:cNvPr id="6" name="Picture 5">
            <a:extLst>
              <a:ext uri="{FF2B5EF4-FFF2-40B4-BE49-F238E27FC236}">
                <a16:creationId xmlns:a16="http://schemas.microsoft.com/office/drawing/2014/main" id="{B1CB0EA0-E019-D8CB-DB22-21F9A902C9E1}"/>
              </a:ext>
            </a:extLst>
          </p:cNvPr>
          <p:cNvPicPr>
            <a:picLocks noChangeAspect="1"/>
          </p:cNvPicPr>
          <p:nvPr/>
        </p:nvPicPr>
        <p:blipFill>
          <a:blip r:embed="rId2"/>
          <a:stretch>
            <a:fillRect/>
          </a:stretch>
        </p:blipFill>
        <p:spPr>
          <a:xfrm>
            <a:off x="102870" y="1806892"/>
            <a:ext cx="11624309" cy="4410075"/>
          </a:xfrm>
          <a:prstGeom prst="rect">
            <a:avLst/>
          </a:prstGeom>
        </p:spPr>
      </p:pic>
    </p:spTree>
    <p:extLst>
      <p:ext uri="{BB962C8B-B14F-4D97-AF65-F5344CB8AC3E}">
        <p14:creationId xmlns:p14="http://schemas.microsoft.com/office/powerpoint/2010/main" val="920496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(Tools) </a:t>
            </a:r>
          </a:p>
        </p:txBody>
      </p:sp>
      <p:sp>
        <p:nvSpPr>
          <p:cNvPr id="3" name="TextBox 2">
            <a:extLst>
              <a:ext uri="{FF2B5EF4-FFF2-40B4-BE49-F238E27FC236}">
                <a16:creationId xmlns:a16="http://schemas.microsoft.com/office/drawing/2014/main" id="{3F5A50DF-55FD-2335-A7F1-9906CB982BE5}"/>
              </a:ext>
            </a:extLst>
          </p:cNvPr>
          <p:cNvSpPr txBox="1"/>
          <p:nvPr/>
        </p:nvSpPr>
        <p:spPr>
          <a:xfrm>
            <a:off x="994410" y="2361099"/>
            <a:ext cx="10367010" cy="3693319"/>
          </a:xfrm>
          <a:prstGeom prst="rect">
            <a:avLst/>
          </a:prstGeom>
          <a:noFill/>
        </p:spPr>
        <p:txBody>
          <a:bodyPr wrap="square">
            <a:spAutoFit/>
          </a:bodyPr>
          <a:lstStyle/>
          <a:p>
            <a:pPr algn="just"/>
            <a:r>
              <a:rPr lang="en-US" b="1" dirty="0"/>
              <a:t>Artifact: Code</a:t>
            </a:r>
          </a:p>
          <a:p>
            <a:pPr algn="just"/>
            <a:r>
              <a:rPr lang="en-US" b="1" dirty="0"/>
              <a:t> Example of risks found: Buffer overflow on line 42</a:t>
            </a:r>
          </a:p>
          <a:p>
            <a:pPr algn="just"/>
            <a:endParaRPr lang="en-US" b="1" dirty="0"/>
          </a:p>
          <a:p>
            <a:pPr marL="285750" indent="-285750" algn="just">
              <a:buFont typeface="Wingdings" panose="05000000000000000000" pitchFamily="2" charset="2"/>
              <a:buChar char="Ø"/>
            </a:pPr>
            <a:r>
              <a:rPr lang="en-US" b="1" dirty="0"/>
              <a:t>Doing code review alone is an extremely useful activity, but given that this kind of review can only identify bugs, the best a code review can uncover is around 50% of the security problems.</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Architectural problems are very difficult (and mostly impossible) to find by staring at code. This is especially true for modern systems made of hundreds of thousands of lines of code.</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A comprehensive approach to software security involves holistically combining both code review and architectural analysis. </a:t>
            </a:r>
          </a:p>
        </p:txBody>
      </p:sp>
    </p:spTree>
    <p:extLst>
      <p:ext uri="{BB962C8B-B14F-4D97-AF65-F5344CB8AC3E}">
        <p14:creationId xmlns:p14="http://schemas.microsoft.com/office/powerpoint/2010/main" val="418585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a:t>
            </a:r>
          </a:p>
        </p:txBody>
      </p:sp>
      <p:pic>
        <p:nvPicPr>
          <p:cNvPr id="3" name="Picture 2">
            <a:extLst>
              <a:ext uri="{FF2B5EF4-FFF2-40B4-BE49-F238E27FC236}">
                <a16:creationId xmlns:a16="http://schemas.microsoft.com/office/drawing/2014/main" id="{EF13A12F-C6E6-AA04-7AC2-1F0344D14F3F}"/>
              </a:ext>
            </a:extLst>
          </p:cNvPr>
          <p:cNvPicPr>
            <a:picLocks noChangeAspect="1"/>
          </p:cNvPicPr>
          <p:nvPr/>
        </p:nvPicPr>
        <p:blipFill>
          <a:blip r:embed="rId2"/>
          <a:stretch>
            <a:fillRect/>
          </a:stretch>
        </p:blipFill>
        <p:spPr>
          <a:xfrm>
            <a:off x="615315" y="2065972"/>
            <a:ext cx="10961369" cy="4600575"/>
          </a:xfrm>
          <a:prstGeom prst="rect">
            <a:avLst/>
          </a:prstGeom>
        </p:spPr>
      </p:pic>
    </p:spTree>
    <p:extLst>
      <p:ext uri="{BB962C8B-B14F-4D97-AF65-F5344CB8AC3E}">
        <p14:creationId xmlns:p14="http://schemas.microsoft.com/office/powerpoint/2010/main" val="211907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a:t>
            </a:r>
          </a:p>
        </p:txBody>
      </p:sp>
      <p:pic>
        <p:nvPicPr>
          <p:cNvPr id="4" name="Picture 3">
            <a:extLst>
              <a:ext uri="{FF2B5EF4-FFF2-40B4-BE49-F238E27FC236}">
                <a16:creationId xmlns:a16="http://schemas.microsoft.com/office/drawing/2014/main" id="{10F35E99-6336-2375-3044-26F9BFDF1C9A}"/>
              </a:ext>
            </a:extLst>
          </p:cNvPr>
          <p:cNvPicPr>
            <a:picLocks noChangeAspect="1"/>
          </p:cNvPicPr>
          <p:nvPr/>
        </p:nvPicPr>
        <p:blipFill>
          <a:blip r:embed="rId2"/>
          <a:stretch>
            <a:fillRect/>
          </a:stretch>
        </p:blipFill>
        <p:spPr>
          <a:xfrm>
            <a:off x="466725" y="1921192"/>
            <a:ext cx="11258549" cy="4638675"/>
          </a:xfrm>
          <a:prstGeom prst="rect">
            <a:avLst/>
          </a:prstGeom>
        </p:spPr>
      </p:pic>
    </p:spTree>
    <p:extLst>
      <p:ext uri="{BB962C8B-B14F-4D97-AF65-F5344CB8AC3E}">
        <p14:creationId xmlns:p14="http://schemas.microsoft.com/office/powerpoint/2010/main" val="762809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a:t>
            </a:r>
          </a:p>
        </p:txBody>
      </p:sp>
      <p:pic>
        <p:nvPicPr>
          <p:cNvPr id="3" name="Picture 2">
            <a:extLst>
              <a:ext uri="{FF2B5EF4-FFF2-40B4-BE49-F238E27FC236}">
                <a16:creationId xmlns:a16="http://schemas.microsoft.com/office/drawing/2014/main" id="{4507DC55-3063-2727-5E59-F3C9965ECA10}"/>
              </a:ext>
            </a:extLst>
          </p:cNvPr>
          <p:cNvPicPr>
            <a:picLocks noChangeAspect="1"/>
          </p:cNvPicPr>
          <p:nvPr/>
        </p:nvPicPr>
        <p:blipFill>
          <a:blip r:embed="rId2"/>
          <a:stretch>
            <a:fillRect/>
          </a:stretch>
        </p:blipFill>
        <p:spPr>
          <a:xfrm>
            <a:off x="434340" y="1748790"/>
            <a:ext cx="11315700" cy="4800600"/>
          </a:xfrm>
          <a:prstGeom prst="rect">
            <a:avLst/>
          </a:prstGeom>
        </p:spPr>
      </p:pic>
    </p:spTree>
    <p:extLst>
      <p:ext uri="{BB962C8B-B14F-4D97-AF65-F5344CB8AC3E}">
        <p14:creationId xmlns:p14="http://schemas.microsoft.com/office/powerpoint/2010/main" val="262661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a:t>
            </a:r>
          </a:p>
        </p:txBody>
      </p:sp>
      <p:pic>
        <p:nvPicPr>
          <p:cNvPr id="4" name="Picture 3">
            <a:extLst>
              <a:ext uri="{FF2B5EF4-FFF2-40B4-BE49-F238E27FC236}">
                <a16:creationId xmlns:a16="http://schemas.microsoft.com/office/drawing/2014/main" id="{4CA7C76F-9C51-077E-0CED-531DAD847007}"/>
              </a:ext>
            </a:extLst>
          </p:cNvPr>
          <p:cNvPicPr>
            <a:picLocks noChangeAspect="1"/>
          </p:cNvPicPr>
          <p:nvPr/>
        </p:nvPicPr>
        <p:blipFill>
          <a:blip r:embed="rId2"/>
          <a:stretch>
            <a:fillRect/>
          </a:stretch>
        </p:blipFill>
        <p:spPr>
          <a:xfrm>
            <a:off x="331470" y="1882140"/>
            <a:ext cx="11395710" cy="4876800"/>
          </a:xfrm>
          <a:prstGeom prst="rect">
            <a:avLst/>
          </a:prstGeom>
        </p:spPr>
      </p:pic>
    </p:spTree>
    <p:extLst>
      <p:ext uri="{BB962C8B-B14F-4D97-AF65-F5344CB8AC3E}">
        <p14:creationId xmlns:p14="http://schemas.microsoft.com/office/powerpoint/2010/main" val="3326625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a:t>
            </a:r>
          </a:p>
        </p:txBody>
      </p:sp>
      <p:pic>
        <p:nvPicPr>
          <p:cNvPr id="3" name="Picture 2">
            <a:extLst>
              <a:ext uri="{FF2B5EF4-FFF2-40B4-BE49-F238E27FC236}">
                <a16:creationId xmlns:a16="http://schemas.microsoft.com/office/drawing/2014/main" id="{58D18E83-84E2-E713-26A0-6FC3EED00F6B}"/>
              </a:ext>
            </a:extLst>
          </p:cNvPr>
          <p:cNvPicPr>
            <a:picLocks noChangeAspect="1"/>
          </p:cNvPicPr>
          <p:nvPr/>
        </p:nvPicPr>
        <p:blipFill>
          <a:blip r:embed="rId2"/>
          <a:stretch>
            <a:fillRect/>
          </a:stretch>
        </p:blipFill>
        <p:spPr>
          <a:xfrm>
            <a:off x="491491" y="1959292"/>
            <a:ext cx="11098530" cy="4791075"/>
          </a:xfrm>
          <a:prstGeom prst="rect">
            <a:avLst/>
          </a:prstGeom>
        </p:spPr>
      </p:pic>
    </p:spTree>
    <p:extLst>
      <p:ext uri="{BB962C8B-B14F-4D97-AF65-F5344CB8AC3E}">
        <p14:creationId xmlns:p14="http://schemas.microsoft.com/office/powerpoint/2010/main" val="3247107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1. Code Review	</a:t>
            </a:r>
          </a:p>
        </p:txBody>
      </p:sp>
      <p:pic>
        <p:nvPicPr>
          <p:cNvPr id="4" name="Picture 3">
            <a:extLst>
              <a:ext uri="{FF2B5EF4-FFF2-40B4-BE49-F238E27FC236}">
                <a16:creationId xmlns:a16="http://schemas.microsoft.com/office/drawing/2014/main" id="{F666F47B-4BB6-2AE3-53E0-73B7E358D808}"/>
              </a:ext>
            </a:extLst>
          </p:cNvPr>
          <p:cNvPicPr>
            <a:picLocks noChangeAspect="1"/>
          </p:cNvPicPr>
          <p:nvPr/>
        </p:nvPicPr>
        <p:blipFill>
          <a:blip r:embed="rId2"/>
          <a:stretch>
            <a:fillRect/>
          </a:stretch>
        </p:blipFill>
        <p:spPr>
          <a:xfrm>
            <a:off x="514350" y="1917382"/>
            <a:ext cx="11132819" cy="4829175"/>
          </a:xfrm>
          <a:prstGeom prst="rect">
            <a:avLst/>
          </a:prstGeom>
        </p:spPr>
      </p:pic>
    </p:spTree>
    <p:extLst>
      <p:ext uri="{BB962C8B-B14F-4D97-AF65-F5344CB8AC3E}">
        <p14:creationId xmlns:p14="http://schemas.microsoft.com/office/powerpoint/2010/main" val="1953848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2. Architectural Risk Analysis 	</a:t>
            </a:r>
          </a:p>
        </p:txBody>
      </p:sp>
      <p:sp>
        <p:nvSpPr>
          <p:cNvPr id="3" name="TextBox 2">
            <a:extLst>
              <a:ext uri="{FF2B5EF4-FFF2-40B4-BE49-F238E27FC236}">
                <a16:creationId xmlns:a16="http://schemas.microsoft.com/office/drawing/2014/main" id="{A8AE0EB9-3F4F-141F-2503-B64B5181ECA4}"/>
              </a:ext>
            </a:extLst>
          </p:cNvPr>
          <p:cNvSpPr txBox="1"/>
          <p:nvPr/>
        </p:nvSpPr>
        <p:spPr>
          <a:xfrm>
            <a:off x="386715" y="2347436"/>
            <a:ext cx="11075670" cy="3693319"/>
          </a:xfrm>
          <a:prstGeom prst="rect">
            <a:avLst/>
          </a:prstGeom>
          <a:noFill/>
        </p:spPr>
        <p:txBody>
          <a:bodyPr wrap="square">
            <a:spAutoFit/>
          </a:bodyPr>
          <a:lstStyle/>
          <a:p>
            <a:pPr marL="285750" indent="-285750" algn="just">
              <a:buFont typeface="Wingdings" panose="05000000000000000000" pitchFamily="2" charset="2"/>
              <a:buChar char="Ø"/>
            </a:pPr>
            <a:r>
              <a:rPr lang="en-US" b="1" dirty="0"/>
              <a:t>Artifact: Design and specification</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Examples of risks found: Poor compartmentalization and protection of critical data; failure of a Web Service to authenticate calling code and its user and to make access control decisions based on proper context.</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At the design and architecture level, a system must be coherent and present a unified security front. Designers, architects, and analysts should clearly document assumptions and identify possible attacks. </a:t>
            </a:r>
          </a:p>
        </p:txBody>
      </p:sp>
    </p:spTree>
    <p:extLst>
      <p:ext uri="{BB962C8B-B14F-4D97-AF65-F5344CB8AC3E}">
        <p14:creationId xmlns:p14="http://schemas.microsoft.com/office/powerpoint/2010/main" val="3505704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3. Penetration Testing 	</a:t>
            </a:r>
          </a:p>
        </p:txBody>
      </p:sp>
      <p:sp>
        <p:nvSpPr>
          <p:cNvPr id="3" name="TextBox 2">
            <a:extLst>
              <a:ext uri="{FF2B5EF4-FFF2-40B4-BE49-F238E27FC236}">
                <a16:creationId xmlns:a16="http://schemas.microsoft.com/office/drawing/2014/main" id="{A8AE0EB9-3F4F-141F-2503-B64B5181ECA4}"/>
              </a:ext>
            </a:extLst>
          </p:cNvPr>
          <p:cNvSpPr txBox="1"/>
          <p:nvPr/>
        </p:nvSpPr>
        <p:spPr>
          <a:xfrm>
            <a:off x="386715" y="2347436"/>
            <a:ext cx="11075670" cy="4247317"/>
          </a:xfrm>
          <a:prstGeom prst="rect">
            <a:avLst/>
          </a:prstGeom>
          <a:noFill/>
        </p:spPr>
        <p:txBody>
          <a:bodyPr wrap="square">
            <a:spAutoFit/>
          </a:bodyPr>
          <a:lstStyle/>
          <a:p>
            <a:pPr marL="285750" indent="-285750" algn="just">
              <a:buFont typeface="Wingdings" panose="05000000000000000000" pitchFamily="2" charset="2"/>
              <a:buChar char="Ø"/>
            </a:pPr>
            <a:r>
              <a:rPr lang="en-US" b="1" dirty="0"/>
              <a:t>Artifact: System in its environment </a:t>
            </a:r>
          </a:p>
          <a:p>
            <a:pPr marL="285750" indent="-285750" algn="just">
              <a:buFont typeface="Wingdings" panose="05000000000000000000" pitchFamily="2" charset="2"/>
              <a:buChar char="Ø"/>
            </a:pPr>
            <a:r>
              <a:rPr lang="en-US" b="1" dirty="0"/>
              <a:t>Example of risks found: Poor handling of program state in Web interface</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Penetration testing is extremely useful, especially if an architectural risk analysis informs the tests. The advantage of penetration testing is that it gives a good understanding of fielded software in its real environment.</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Software that fails during the kind of canned black box testing practiced by prefab application security testing tools is truly bad.</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 Thus, passing a low-octane penetration test reveals little about your actual security posture, but failing a canned penetration test indicates that you're in very deep trouble indeed</a:t>
            </a:r>
          </a:p>
        </p:txBody>
      </p:sp>
    </p:spTree>
    <p:extLst>
      <p:ext uri="{BB962C8B-B14F-4D97-AF65-F5344CB8AC3E}">
        <p14:creationId xmlns:p14="http://schemas.microsoft.com/office/powerpoint/2010/main" val="3960801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4.Risk-Based Security Testing </a:t>
            </a:r>
          </a:p>
        </p:txBody>
      </p:sp>
      <p:sp>
        <p:nvSpPr>
          <p:cNvPr id="3" name="TextBox 2">
            <a:extLst>
              <a:ext uri="{FF2B5EF4-FFF2-40B4-BE49-F238E27FC236}">
                <a16:creationId xmlns:a16="http://schemas.microsoft.com/office/drawing/2014/main" id="{A8AE0EB9-3F4F-141F-2503-B64B5181ECA4}"/>
              </a:ext>
            </a:extLst>
          </p:cNvPr>
          <p:cNvSpPr txBox="1"/>
          <p:nvPr/>
        </p:nvSpPr>
        <p:spPr>
          <a:xfrm>
            <a:off x="375285" y="2252067"/>
            <a:ext cx="11075670" cy="3970318"/>
          </a:xfrm>
          <a:prstGeom prst="rect">
            <a:avLst/>
          </a:prstGeom>
          <a:noFill/>
        </p:spPr>
        <p:txBody>
          <a:bodyPr wrap="square">
            <a:spAutoFit/>
          </a:bodyPr>
          <a:lstStyle/>
          <a:p>
            <a:pPr marL="285750" indent="-285750" algn="just">
              <a:buFont typeface="Wingdings" panose="05000000000000000000" pitchFamily="2" charset="2"/>
              <a:buChar char="Ø"/>
            </a:pPr>
            <a:r>
              <a:rPr lang="en-US" b="1" dirty="0"/>
              <a:t>Artifact: Units and system</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 Example of risks found: Extent of data leakage possible by leveraging data protection risk</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Security testing must encompass two strategies: (1) testing of security functionality with standard functional testing techniques and (2) risk-based security testing based on attack patterns, risk analysis results, and abuse cases. A good security test plan embraces both strategies.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Security testing is about making sure bad things don't happen. Thinking like an attacker is essential. Guiding security testing with knowledge of software architecture, common attacks, and the attacker's mindset is thus extremely important.</a:t>
            </a:r>
          </a:p>
          <a:p>
            <a:pPr marL="285750" indent="-285750" algn="just">
              <a:buFont typeface="Wingdings" panose="05000000000000000000" pitchFamily="2" charset="2"/>
              <a:buChar char="Ø"/>
            </a:pPr>
            <a:endParaRPr lang="en-US" b="1" dirty="0"/>
          </a:p>
        </p:txBody>
      </p:sp>
    </p:spTree>
    <p:extLst>
      <p:ext uri="{BB962C8B-B14F-4D97-AF65-F5344CB8AC3E}">
        <p14:creationId xmlns:p14="http://schemas.microsoft.com/office/powerpoint/2010/main" val="2175459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5. Abuse Cases </a:t>
            </a:r>
          </a:p>
        </p:txBody>
      </p:sp>
      <p:sp>
        <p:nvSpPr>
          <p:cNvPr id="3" name="TextBox 2">
            <a:extLst>
              <a:ext uri="{FF2B5EF4-FFF2-40B4-BE49-F238E27FC236}">
                <a16:creationId xmlns:a16="http://schemas.microsoft.com/office/drawing/2014/main" id="{A8AE0EB9-3F4F-141F-2503-B64B5181ECA4}"/>
              </a:ext>
            </a:extLst>
          </p:cNvPr>
          <p:cNvSpPr txBox="1"/>
          <p:nvPr/>
        </p:nvSpPr>
        <p:spPr>
          <a:xfrm>
            <a:off x="482917" y="2828836"/>
            <a:ext cx="11226165" cy="2862322"/>
          </a:xfrm>
          <a:prstGeom prst="rect">
            <a:avLst/>
          </a:prstGeom>
          <a:noFill/>
        </p:spPr>
        <p:txBody>
          <a:bodyPr wrap="square">
            <a:spAutoFit/>
          </a:bodyPr>
          <a:lstStyle/>
          <a:p>
            <a:pPr marL="285750" indent="-285750" algn="just">
              <a:buFont typeface="Wingdings" panose="05000000000000000000" pitchFamily="2" charset="2"/>
              <a:buChar char="Ø"/>
            </a:pPr>
            <a:r>
              <a:rPr lang="en-US" b="1" dirty="0"/>
              <a:t>Artifact: Requirements and use cases </a:t>
            </a:r>
          </a:p>
          <a:p>
            <a:pPr algn="just"/>
            <a:endParaRPr lang="en-US" b="1" dirty="0"/>
          </a:p>
          <a:p>
            <a:pPr marL="285750" indent="-285750" algn="just">
              <a:buFont typeface="Wingdings" panose="05000000000000000000" pitchFamily="2" charset="2"/>
              <a:buChar char="Ø"/>
            </a:pPr>
            <a:r>
              <a:rPr lang="en-US" b="1" dirty="0"/>
              <a:t>Example of risks found: Susceptibility to well-known tampering attack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algn="just"/>
            <a:endParaRPr lang="en-US" b="1" dirty="0"/>
          </a:p>
          <a:p>
            <a:pPr marL="285750" indent="-285750" algn="just">
              <a:buFont typeface="Wingdings" panose="05000000000000000000" pitchFamily="2" charset="2"/>
              <a:buChar char="Ø"/>
            </a:pPr>
            <a:r>
              <a:rPr lang="en-US" b="1" dirty="0"/>
              <a:t>Building abuse cases is a great way to get into the mind of the attacker. Similar to use cases, abuse cases describe the system's behavior under attack; building abuse cases requires explicit coverage of what should be protected, from whom, and for how long</a:t>
            </a:r>
          </a:p>
        </p:txBody>
      </p:sp>
    </p:spTree>
    <p:extLst>
      <p:ext uri="{BB962C8B-B14F-4D97-AF65-F5344CB8AC3E}">
        <p14:creationId xmlns:p14="http://schemas.microsoft.com/office/powerpoint/2010/main" val="3904856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6. Security Requirements  </a:t>
            </a:r>
          </a:p>
        </p:txBody>
      </p:sp>
      <p:sp>
        <p:nvSpPr>
          <p:cNvPr id="3" name="TextBox 2">
            <a:extLst>
              <a:ext uri="{FF2B5EF4-FFF2-40B4-BE49-F238E27FC236}">
                <a16:creationId xmlns:a16="http://schemas.microsoft.com/office/drawing/2014/main" id="{A8AE0EB9-3F4F-141F-2503-B64B5181ECA4}"/>
              </a:ext>
            </a:extLst>
          </p:cNvPr>
          <p:cNvSpPr txBox="1"/>
          <p:nvPr/>
        </p:nvSpPr>
        <p:spPr>
          <a:xfrm>
            <a:off x="482917" y="2463076"/>
            <a:ext cx="11226165" cy="3139321"/>
          </a:xfrm>
          <a:prstGeom prst="rect">
            <a:avLst/>
          </a:prstGeom>
          <a:noFill/>
        </p:spPr>
        <p:txBody>
          <a:bodyPr wrap="square">
            <a:spAutoFit/>
          </a:bodyPr>
          <a:lstStyle/>
          <a:p>
            <a:pPr marL="285750" indent="-285750" algn="just">
              <a:buFont typeface="Wingdings" panose="05000000000000000000" pitchFamily="2" charset="2"/>
              <a:buChar char="Ø"/>
            </a:pPr>
            <a:r>
              <a:rPr lang="en-US" b="1" dirty="0"/>
              <a:t>Artifact: Requirements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Example of risks found: No explicit description of data protection needs</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algn="just"/>
            <a:endParaRPr lang="en-US" b="1" dirty="0"/>
          </a:p>
          <a:p>
            <a:pPr marL="285750" indent="-285750" algn="just">
              <a:buFont typeface="Wingdings" panose="05000000000000000000" pitchFamily="2" charset="2"/>
              <a:buChar char="Ø"/>
            </a:pPr>
            <a:r>
              <a:rPr lang="en-US" b="1" dirty="0"/>
              <a:t>Security must be explicitly worked into the requirements level. Good security requirements cover both overt functional security (say, the use of applied cryptography) and emergent characteristics (best captured by abuse cases and attack patterns).</a:t>
            </a:r>
          </a:p>
        </p:txBody>
      </p:sp>
    </p:spTree>
    <p:extLst>
      <p:ext uri="{BB962C8B-B14F-4D97-AF65-F5344CB8AC3E}">
        <p14:creationId xmlns:p14="http://schemas.microsoft.com/office/powerpoint/2010/main" val="1419962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7. Security Operations </a:t>
            </a:r>
          </a:p>
        </p:txBody>
      </p:sp>
      <p:sp>
        <p:nvSpPr>
          <p:cNvPr id="3" name="TextBox 2">
            <a:extLst>
              <a:ext uri="{FF2B5EF4-FFF2-40B4-BE49-F238E27FC236}">
                <a16:creationId xmlns:a16="http://schemas.microsoft.com/office/drawing/2014/main" id="{A8AE0EB9-3F4F-141F-2503-B64B5181ECA4}"/>
              </a:ext>
            </a:extLst>
          </p:cNvPr>
          <p:cNvSpPr txBox="1"/>
          <p:nvPr/>
        </p:nvSpPr>
        <p:spPr>
          <a:xfrm>
            <a:off x="482917" y="2463076"/>
            <a:ext cx="11226165" cy="2862322"/>
          </a:xfrm>
          <a:prstGeom prst="rect">
            <a:avLst/>
          </a:prstGeom>
          <a:noFill/>
        </p:spPr>
        <p:txBody>
          <a:bodyPr wrap="square">
            <a:spAutoFit/>
          </a:bodyPr>
          <a:lstStyle/>
          <a:p>
            <a:pPr marL="285750" indent="-285750" algn="just">
              <a:buFont typeface="Wingdings" panose="05000000000000000000" pitchFamily="2" charset="2"/>
              <a:buChar char="Ø"/>
            </a:pPr>
            <a:r>
              <a:rPr lang="en-US" b="1" dirty="0"/>
              <a:t>Artifact: Fielded system </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Example of risks found: Insufficient logging to prosecute a known attacker </a:t>
            </a:r>
          </a:p>
          <a:p>
            <a:pPr marL="285750" indent="-285750" algn="just">
              <a:buFont typeface="Wingdings" panose="05000000000000000000" pitchFamily="2" charset="2"/>
              <a:buChar char="Ø"/>
            </a:pPr>
            <a:endParaRPr lang="en-US" b="1" dirty="0"/>
          </a:p>
          <a:p>
            <a:pPr algn="just"/>
            <a:endParaRPr lang="en-US" b="1" dirty="0"/>
          </a:p>
          <a:p>
            <a:pPr marL="285750" indent="-285750" algn="just">
              <a:buFont typeface="Wingdings" panose="05000000000000000000" pitchFamily="2" charset="2"/>
              <a:buChar char="Ø"/>
            </a:pPr>
            <a:r>
              <a:rPr lang="en-US" b="1" dirty="0"/>
              <a:t>Software security can benefit greatly from network security. Well-integrated security operations allow and encourage network security professionals to get involved in applying the touchpoints, providing experience and security wisdom that might otherwise be missing from the development team. </a:t>
            </a:r>
          </a:p>
        </p:txBody>
      </p:sp>
    </p:spTree>
    <p:extLst>
      <p:ext uri="{BB962C8B-B14F-4D97-AF65-F5344CB8AC3E}">
        <p14:creationId xmlns:p14="http://schemas.microsoft.com/office/powerpoint/2010/main" val="5216875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 External Analysis </a:t>
            </a:r>
          </a:p>
        </p:txBody>
      </p:sp>
      <p:sp>
        <p:nvSpPr>
          <p:cNvPr id="3" name="TextBox 2">
            <a:extLst>
              <a:ext uri="{FF2B5EF4-FFF2-40B4-BE49-F238E27FC236}">
                <a16:creationId xmlns:a16="http://schemas.microsoft.com/office/drawing/2014/main" id="{A8AE0EB9-3F4F-141F-2503-B64B5181ECA4}"/>
              </a:ext>
            </a:extLst>
          </p:cNvPr>
          <p:cNvSpPr txBox="1"/>
          <p:nvPr/>
        </p:nvSpPr>
        <p:spPr>
          <a:xfrm>
            <a:off x="482917" y="2451646"/>
            <a:ext cx="11226165" cy="3139321"/>
          </a:xfrm>
          <a:prstGeom prst="rect">
            <a:avLst/>
          </a:prstGeom>
          <a:noFill/>
        </p:spPr>
        <p:txBody>
          <a:bodyPr wrap="square">
            <a:spAutoFit/>
          </a:bodyPr>
          <a:lstStyle/>
          <a:p>
            <a:pPr marL="285750" indent="-285750" algn="just">
              <a:buFont typeface="Wingdings" panose="05000000000000000000" pitchFamily="2" charset="2"/>
              <a:buChar char="Ø"/>
            </a:pPr>
            <a:r>
              <a:rPr lang="en-US" b="1" dirty="0"/>
              <a:t>This is not really a touchpoint, but it's important enough to emphasize so I've put it in the touchpoints picture anyway.</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 External analysis (i.e., analysis by somebody outside the design team) is often a necessity when it comes to security.</a:t>
            </a:r>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endParaRPr lang="en-US" b="1" dirty="0"/>
          </a:p>
          <a:p>
            <a:pPr marL="285750" indent="-285750" algn="just">
              <a:buFont typeface="Wingdings" panose="05000000000000000000" pitchFamily="2" charset="2"/>
              <a:buChar char="Ø"/>
            </a:pPr>
            <a:r>
              <a:rPr lang="en-US" b="1" dirty="0"/>
              <a:t> All software security touchpoints are best applied by people not involved in the original design and implementation of the system. </a:t>
            </a:r>
          </a:p>
        </p:txBody>
      </p:sp>
    </p:spTree>
    <p:extLst>
      <p:ext uri="{BB962C8B-B14F-4D97-AF65-F5344CB8AC3E}">
        <p14:creationId xmlns:p14="http://schemas.microsoft.com/office/powerpoint/2010/main" val="3852087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Best Practice</a:t>
            </a:r>
          </a:p>
        </p:txBody>
      </p:sp>
      <p:pic>
        <p:nvPicPr>
          <p:cNvPr id="5" name="Picture 4">
            <a:extLst>
              <a:ext uri="{FF2B5EF4-FFF2-40B4-BE49-F238E27FC236}">
                <a16:creationId xmlns:a16="http://schemas.microsoft.com/office/drawing/2014/main" id="{A29A768D-C3FC-F5E3-2CCA-29AF155D4B4C}"/>
              </a:ext>
            </a:extLst>
          </p:cNvPr>
          <p:cNvPicPr>
            <a:picLocks noChangeAspect="1"/>
          </p:cNvPicPr>
          <p:nvPr/>
        </p:nvPicPr>
        <p:blipFill>
          <a:blip r:embed="rId2"/>
          <a:stretch>
            <a:fillRect/>
          </a:stretch>
        </p:blipFill>
        <p:spPr>
          <a:xfrm>
            <a:off x="285751" y="1954530"/>
            <a:ext cx="11247120" cy="4743450"/>
          </a:xfrm>
          <a:prstGeom prst="rect">
            <a:avLst/>
          </a:prstGeom>
        </p:spPr>
      </p:pic>
    </p:spTree>
    <p:extLst>
      <p:ext uri="{BB962C8B-B14F-4D97-AF65-F5344CB8AC3E}">
        <p14:creationId xmlns:p14="http://schemas.microsoft.com/office/powerpoint/2010/main" val="1042680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CFE77B4-833B-1F8F-7D3A-2E73D87F5B85}"/>
              </a:ext>
            </a:extLst>
          </p:cNvPr>
          <p:cNvSpPr txBox="1"/>
          <p:nvPr/>
        </p:nvSpPr>
        <p:spPr>
          <a:xfrm>
            <a:off x="1391602" y="912614"/>
            <a:ext cx="6632257" cy="553998"/>
          </a:xfrm>
          <a:prstGeom prst="rect">
            <a:avLst/>
          </a:prstGeom>
          <a:noFill/>
        </p:spPr>
        <p:txBody>
          <a:bodyPr wrap="square">
            <a:spAutoFit/>
          </a:bodyPr>
          <a:lstStyle/>
          <a:p>
            <a:r>
              <a:rPr lang="en-US" sz="3000" b="1" dirty="0">
                <a:solidFill>
                  <a:schemeClr val="bg1"/>
                </a:solidFill>
              </a:rPr>
              <a:t>Best Practice</a:t>
            </a:r>
          </a:p>
        </p:txBody>
      </p:sp>
      <p:pic>
        <p:nvPicPr>
          <p:cNvPr id="3" name="Picture 2">
            <a:extLst>
              <a:ext uri="{FF2B5EF4-FFF2-40B4-BE49-F238E27FC236}">
                <a16:creationId xmlns:a16="http://schemas.microsoft.com/office/drawing/2014/main" id="{F458565F-A4A2-E6C3-0C77-289CA8AC0366}"/>
              </a:ext>
            </a:extLst>
          </p:cNvPr>
          <p:cNvPicPr>
            <a:picLocks noChangeAspect="1"/>
          </p:cNvPicPr>
          <p:nvPr/>
        </p:nvPicPr>
        <p:blipFill>
          <a:blip r:embed="rId2"/>
          <a:stretch>
            <a:fillRect/>
          </a:stretch>
        </p:blipFill>
        <p:spPr>
          <a:xfrm>
            <a:off x="434341" y="1866900"/>
            <a:ext cx="11098530" cy="4876800"/>
          </a:xfrm>
          <a:prstGeom prst="rect">
            <a:avLst/>
          </a:prstGeom>
        </p:spPr>
      </p:pic>
    </p:spTree>
    <p:extLst>
      <p:ext uri="{BB962C8B-B14F-4D97-AF65-F5344CB8AC3E}">
        <p14:creationId xmlns:p14="http://schemas.microsoft.com/office/powerpoint/2010/main" val="28351103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1608</TotalTime>
  <Words>763</Words>
  <Application>Microsoft Office PowerPoint</Application>
  <PresentationFormat>Widescreen</PresentationFormat>
  <Paragraphs>91</Paragraphs>
  <Slides>19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Century Gothic</vt:lpstr>
      <vt:lpstr>Wingdings</vt:lpstr>
      <vt:lpstr>Wingdings 3</vt:lpstr>
      <vt:lpstr>Ion Boardroom</vt:lpstr>
      <vt:lpstr>    Secure Software Design and Development   (Part II:  Seven Touchpoints for Software Security)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Cryptography I IS-842 Fall Semester 2019</dc:title>
  <dc:creator>Dr. Shahzad Saleem</dc:creator>
  <cp:lastModifiedBy>Naveed Husain</cp:lastModifiedBy>
  <cp:revision>134</cp:revision>
  <dcterms:created xsi:type="dcterms:W3CDTF">2019-09-02T01:59:48Z</dcterms:created>
  <dcterms:modified xsi:type="dcterms:W3CDTF">2024-03-21T11:59:50Z</dcterms:modified>
</cp:coreProperties>
</file>