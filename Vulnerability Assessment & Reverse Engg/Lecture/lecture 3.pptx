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  <Override PartName="/ppt/media/image5.jpeg" ContentType="image/jpeg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0058400" cy="7772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8C848-2ADF-4659-8102-009895A801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938FE17-EEB9-44AF-AC4D-0A75966F2C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41F81CD-D47F-43C7-BC0E-D13BAA6036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C20DD19-8E89-4F29-90D6-12A1549990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97852C-C33A-41FD-8F8C-558A62635A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1" name="bg object 17" descr=""/>
          <p:cNvPicPr/>
          <p:nvPr/>
        </p:nvPicPr>
        <p:blipFill>
          <a:blip r:embed="rId3"/>
          <a:stretch/>
        </p:blipFill>
        <p:spPr>
          <a:xfrm>
            <a:off x="457200" y="1929240"/>
            <a:ext cx="9143640" cy="5385600"/>
          </a:xfrm>
          <a:prstGeom prst="rect">
            <a:avLst/>
          </a:prstGeom>
          <a:ln w="0">
            <a:noFill/>
          </a:ln>
        </p:spPr>
      </p:pic>
      <p:pic>
        <p:nvPicPr>
          <p:cNvPr id="2" name="bg object 18" descr=""/>
          <p:cNvPicPr/>
          <p:nvPr/>
        </p:nvPicPr>
        <p:blipFill>
          <a:blip r:embed="rId4"/>
          <a:stretch/>
        </p:blipFill>
        <p:spPr>
          <a:xfrm>
            <a:off x="429840" y="1865520"/>
            <a:ext cx="9198360" cy="91080"/>
          </a:xfrm>
          <a:prstGeom prst="rect">
            <a:avLst/>
          </a:prstGeom>
          <a:ln w="0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754560" y="2409480"/>
            <a:ext cx="8549280" cy="1646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1"/>
          </p:nvPr>
        </p:nvSpPr>
        <p:spPr>
          <a:xfrm>
            <a:off x="3420000" y="7228440"/>
            <a:ext cx="3218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2"/>
          </p:nvPr>
        </p:nvSpPr>
        <p:spPr>
          <a:xfrm>
            <a:off x="5029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sldNum" idx="3"/>
          </p:nvPr>
        </p:nvSpPr>
        <p:spPr>
          <a:xfrm>
            <a:off x="72421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7D299A-B911-4BD9-9D94-99BF627FF829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7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10" name="bg object 17" descr=""/>
          <p:cNvPicPr/>
          <p:nvPr/>
        </p:nvPicPr>
        <p:blipFill>
          <a:blip r:embed="rId3"/>
          <a:stretch/>
        </p:blipFill>
        <p:spPr>
          <a:xfrm>
            <a:off x="457200" y="1929240"/>
            <a:ext cx="9143640" cy="5385600"/>
          </a:xfrm>
          <a:prstGeom prst="rect">
            <a:avLst/>
          </a:prstGeom>
          <a:ln w="0">
            <a:noFill/>
          </a:ln>
        </p:spPr>
      </p:pic>
      <p:pic>
        <p:nvPicPr>
          <p:cNvPr id="11" name="bg object 18" descr=""/>
          <p:cNvPicPr/>
          <p:nvPr/>
        </p:nvPicPr>
        <p:blipFill>
          <a:blip r:embed="rId4"/>
          <a:stretch/>
        </p:blipFill>
        <p:spPr>
          <a:xfrm>
            <a:off x="429840" y="1865520"/>
            <a:ext cx="9198360" cy="91080"/>
          </a:xfrm>
          <a:prstGeom prst="rect">
            <a:avLst/>
          </a:prstGeom>
          <a:ln w="0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72400" y="1922760"/>
            <a:ext cx="8903520" cy="490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4"/>
          </p:nvPr>
        </p:nvSpPr>
        <p:spPr>
          <a:xfrm>
            <a:off x="3420000" y="7228440"/>
            <a:ext cx="3218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5"/>
          </p:nvPr>
        </p:nvSpPr>
        <p:spPr>
          <a:xfrm>
            <a:off x="5029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6"/>
          </p:nvPr>
        </p:nvSpPr>
        <p:spPr>
          <a:xfrm>
            <a:off x="72421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475D98-F8D4-430F-9FD8-00304824FA29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20" name="bg object 17" descr=""/>
          <p:cNvPicPr/>
          <p:nvPr/>
        </p:nvPicPr>
        <p:blipFill>
          <a:blip r:embed="rId3"/>
          <a:stretch/>
        </p:blipFill>
        <p:spPr>
          <a:xfrm>
            <a:off x="457200" y="1929240"/>
            <a:ext cx="9143640" cy="5385600"/>
          </a:xfrm>
          <a:prstGeom prst="rect">
            <a:avLst/>
          </a:prstGeom>
          <a:ln w="0">
            <a:noFill/>
          </a:ln>
        </p:spPr>
      </p:pic>
      <p:pic>
        <p:nvPicPr>
          <p:cNvPr id="21" name="bg object 18" descr=""/>
          <p:cNvPicPr/>
          <p:nvPr/>
        </p:nvPicPr>
        <p:blipFill>
          <a:blip r:embed="rId4"/>
          <a:stretch/>
        </p:blipFill>
        <p:spPr>
          <a:xfrm>
            <a:off x="429840" y="1865520"/>
            <a:ext cx="9198360" cy="91080"/>
          </a:xfrm>
          <a:prstGeom prst="rect">
            <a:avLst/>
          </a:prstGeom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2920" y="1787760"/>
            <a:ext cx="43750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80040" y="1787760"/>
            <a:ext cx="4375080" cy="4821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7"/>
          </p:nvPr>
        </p:nvSpPr>
        <p:spPr>
          <a:xfrm>
            <a:off x="3420000" y="7228440"/>
            <a:ext cx="3218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8"/>
          </p:nvPr>
        </p:nvSpPr>
        <p:spPr>
          <a:xfrm>
            <a:off x="5029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sldNum" idx="9"/>
          </p:nvPr>
        </p:nvSpPr>
        <p:spPr>
          <a:xfrm>
            <a:off x="72421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7E0376B-D112-47E6-BBD1-04AA2F059551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31" name="bg object 17" descr=""/>
          <p:cNvPicPr/>
          <p:nvPr/>
        </p:nvPicPr>
        <p:blipFill>
          <a:blip r:embed="rId3"/>
          <a:stretch/>
        </p:blipFill>
        <p:spPr>
          <a:xfrm>
            <a:off x="457200" y="1929240"/>
            <a:ext cx="9143640" cy="5385600"/>
          </a:xfrm>
          <a:prstGeom prst="rect">
            <a:avLst/>
          </a:prstGeom>
          <a:ln w="0">
            <a:noFill/>
          </a:ln>
        </p:spPr>
      </p:pic>
      <p:pic>
        <p:nvPicPr>
          <p:cNvPr id="32" name="bg object 18" descr=""/>
          <p:cNvPicPr/>
          <p:nvPr/>
        </p:nvPicPr>
        <p:blipFill>
          <a:blip r:embed="rId4"/>
          <a:stretch/>
        </p:blipFill>
        <p:spPr>
          <a:xfrm>
            <a:off x="429840" y="1865520"/>
            <a:ext cx="9198360" cy="91080"/>
          </a:xfrm>
          <a:prstGeom prst="rect">
            <a:avLst/>
          </a:prstGeom>
          <a:ln w="0">
            <a:noFill/>
          </a:ln>
        </p:spPr>
      </p:pic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0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54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ftr" idx="10"/>
          </p:nvPr>
        </p:nvSpPr>
        <p:spPr>
          <a:xfrm>
            <a:off x="3420000" y="7228440"/>
            <a:ext cx="3218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1"/>
          </p:nvPr>
        </p:nvSpPr>
        <p:spPr>
          <a:xfrm>
            <a:off x="5029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sldNum" idx="12"/>
          </p:nvPr>
        </p:nvSpPr>
        <p:spPr>
          <a:xfrm>
            <a:off x="72421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ABE574-7289-4FB2-8AFB-179B7CB233C9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502920" y="1818720"/>
            <a:ext cx="9052200" cy="450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bg object 16" descr=""/>
          <p:cNvPicPr/>
          <p:nvPr/>
        </p:nvPicPr>
        <p:blipFill>
          <a:blip r:embed="rId2"/>
          <a:stretch/>
        </p:blipFill>
        <p:spPr>
          <a:xfrm>
            <a:off x="457200" y="457200"/>
            <a:ext cx="9143640" cy="6857640"/>
          </a:xfrm>
          <a:prstGeom prst="rect">
            <a:avLst/>
          </a:prstGeom>
          <a:ln w="0">
            <a:noFill/>
          </a:ln>
        </p:spPr>
      </p:pic>
      <p:pic>
        <p:nvPicPr>
          <p:cNvPr id="41" name="bg object 17" descr=""/>
          <p:cNvPicPr/>
          <p:nvPr/>
        </p:nvPicPr>
        <p:blipFill>
          <a:blip r:embed="rId3"/>
          <a:stretch/>
        </p:blipFill>
        <p:spPr>
          <a:xfrm>
            <a:off x="457200" y="1929240"/>
            <a:ext cx="9143640" cy="5385600"/>
          </a:xfrm>
          <a:prstGeom prst="rect">
            <a:avLst/>
          </a:prstGeom>
          <a:ln w="0">
            <a:noFill/>
          </a:ln>
        </p:spPr>
      </p:pic>
      <p:pic>
        <p:nvPicPr>
          <p:cNvPr id="42" name="bg object 18" descr=""/>
          <p:cNvPicPr/>
          <p:nvPr/>
        </p:nvPicPr>
        <p:blipFill>
          <a:blip r:embed="rId4"/>
          <a:stretch/>
        </p:blipFill>
        <p:spPr>
          <a:xfrm>
            <a:off x="429840" y="1865520"/>
            <a:ext cx="9198360" cy="91080"/>
          </a:xfrm>
          <a:prstGeom prst="rect">
            <a:avLst/>
          </a:prstGeom>
          <a:ln w="0">
            <a:noFill/>
          </a:ln>
        </p:spPr>
      </p:pic>
      <p:sp>
        <p:nvSpPr>
          <p:cNvPr id="43" name="PlaceHolder 1"/>
          <p:cNvSpPr>
            <a:spLocks noGrp="1"/>
          </p:cNvSpPr>
          <p:nvPr>
            <p:ph type="ftr" idx="13"/>
          </p:nvPr>
        </p:nvSpPr>
        <p:spPr>
          <a:xfrm>
            <a:off x="3420000" y="7228440"/>
            <a:ext cx="32184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dt" idx="14"/>
          </p:nvPr>
        </p:nvSpPr>
        <p:spPr>
          <a:xfrm>
            <a:off x="5029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15"/>
          </p:nvPr>
        </p:nvSpPr>
        <p:spPr>
          <a:xfrm>
            <a:off x="7242120" y="7228440"/>
            <a:ext cx="2313000" cy="388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11FADA-8E1F-48E2-81BC-8AB039C1D633}" type="slidenum">
              <a:rPr b="0" lang="en-US" sz="18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1100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2362320" indent="-90504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What Is </a:t>
            </a:r>
            <a:r>
              <a:rPr b="0" lang="en-US" sz="5400" spc="-12" strike="noStrike">
                <a:solidFill>
                  <a:srgbClr val="2f1f58"/>
                </a:solidFill>
                <a:latin typeface="Candara"/>
              </a:rPr>
              <a:t>Vulnerability </a:t>
            </a:r>
            <a:r>
              <a:rPr b="0" lang="en-US" sz="5400" spc="-1160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Management?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object 3"/>
          <p:cNvSpPr/>
          <p:nvPr/>
        </p:nvSpPr>
        <p:spPr>
          <a:xfrm>
            <a:off x="536760" y="1922760"/>
            <a:ext cx="74246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Practice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staying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aware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known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 an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environment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object 4"/>
          <p:cNvSpPr/>
          <p:nvPr/>
        </p:nvSpPr>
        <p:spPr>
          <a:xfrm>
            <a:off x="536760" y="3629520"/>
            <a:ext cx="796320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Resolving 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mitigating these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improve 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environment’s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overall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security posture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object 5"/>
          <p:cNvSpPr/>
          <p:nvPr/>
        </p:nvSpPr>
        <p:spPr>
          <a:xfrm>
            <a:off x="536760" y="5336640"/>
            <a:ext cx="6477840" cy="74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entails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number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inter‐dependent</a:t>
            </a:r>
            <a:r>
              <a:rPr b="0" lang="en-US" sz="2400" spc="2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activities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1100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3713400" indent="-370152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12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5400" spc="-5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Management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Life </a:t>
            </a:r>
            <a:r>
              <a:rPr b="0" lang="en-US" sz="5400" spc="-115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cycle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pic>
        <p:nvPicPr>
          <p:cNvPr id="53" name="object 3" descr=""/>
          <p:cNvPicPr/>
          <p:nvPr/>
        </p:nvPicPr>
        <p:blipFill>
          <a:blip r:embed="rId1"/>
          <a:stretch/>
        </p:blipFill>
        <p:spPr>
          <a:xfrm>
            <a:off x="1782360" y="2006640"/>
            <a:ext cx="6202440" cy="5229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1100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3713400" indent="-370152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12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5400" spc="-5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Management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Life </a:t>
            </a:r>
            <a:r>
              <a:rPr b="0" lang="en-US" sz="5400" spc="-115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cycle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object 3"/>
          <p:cNvSpPr/>
          <p:nvPr/>
        </p:nvSpPr>
        <p:spPr>
          <a:xfrm>
            <a:off x="536760" y="1922760"/>
            <a:ext cx="8800200" cy="523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Collect data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 your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systems to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determine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that exist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Analyze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collected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data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well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security‐related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data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from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other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sources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Data analysis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results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will help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making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 about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actions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needed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improve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security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posture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might include installing patches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applying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mitigations,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such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firewall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rules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system‐hardening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techniques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Implement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161100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3713400" indent="-370152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12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5400" spc="-5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Management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Life </a:t>
            </a:r>
            <a:r>
              <a:rPr b="0" lang="en-US" sz="5400" spc="-115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cycle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object 3"/>
          <p:cNvSpPr/>
          <p:nvPr/>
        </p:nvSpPr>
        <p:spPr>
          <a:xfrm>
            <a:off x="536760" y="1922760"/>
            <a:ext cx="8776080" cy="59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cycle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begins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again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Collect another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round 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systems data and 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that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remain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after analysis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well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new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weren’t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apparent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previous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cycle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management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process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neither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short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simple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Finding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can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be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easy,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but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dealing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 them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improving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your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security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baseline will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ongoing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process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will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also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involve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many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different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roles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business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processes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throughout 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organization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844000" y="704520"/>
            <a:ext cx="56142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Collecting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object 3"/>
          <p:cNvSpPr/>
          <p:nvPr/>
        </p:nvSpPr>
        <p:spPr>
          <a:xfrm>
            <a:off x="536760" y="1922760"/>
            <a:ext cx="8734680" cy="48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Gathering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your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organizational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environment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Includes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hosts</a:t>
            </a:r>
            <a:r>
              <a:rPr b="0" lang="en-US" sz="2400" spc="-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network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—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endpoints and network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devices—and vulnerability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each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 information can come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from an exploratory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 using a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network‐mapping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tool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(like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Nmap)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data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comes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from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one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source: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vulnerability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scanners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844000" y="704520"/>
            <a:ext cx="56142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Collecting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object 3"/>
          <p:cNvSpPr/>
          <p:nvPr/>
        </p:nvSpPr>
        <p:spPr>
          <a:xfrm>
            <a:off x="536760" y="1922760"/>
            <a:ext cx="8831880" cy="486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Network scanners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reach out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every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IP address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within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range, or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specific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of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IPs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5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determine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which ports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are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open, which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services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are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running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those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ports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operating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system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(OS)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versions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relevant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configurations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Software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packages running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each device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Host‐based scan‐less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agents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query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directly to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determine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running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services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and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version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844000" y="704520"/>
            <a:ext cx="53856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Collecting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object 3"/>
          <p:cNvSpPr/>
          <p:nvPr/>
        </p:nvSpPr>
        <p:spPr>
          <a:xfrm>
            <a:off x="536760" y="1922760"/>
            <a:ext cx="8862840" cy="56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internal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collected data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quickly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becomes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stale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Must</a:t>
            </a:r>
            <a:r>
              <a:rPr b="0" lang="en-US" sz="2400" spc="-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gather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it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regularly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42360" indent="-342360" algn="r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423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</a:t>
            </a:r>
            <a:r>
              <a:rPr b="0" lang="en-US" sz="2400" spc="-4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changes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daily: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336600" indent="-336600" algn="r" defTabSz="914400">
              <a:lnSpc>
                <a:spcPct val="100000"/>
              </a:lnSpc>
              <a:spcBef>
                <a:spcPts val="609"/>
              </a:spcBef>
              <a:buClr>
                <a:srgbClr val="2f1f58"/>
              </a:buClr>
              <a:buFont typeface="Symbol" charset="2"/>
              <a:buChar char=""/>
              <a:tabLst>
                <a:tab algn="l" pos="336600"/>
                <a:tab algn="l" pos="337320"/>
              </a:tabLst>
            </a:pP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people</a:t>
            </a:r>
            <a:r>
              <a:rPr b="0" lang="en-US" sz="22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install</a:t>
            </a:r>
            <a:r>
              <a:rPr b="0" lang="en-US" sz="22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new</a:t>
            </a:r>
            <a:r>
              <a:rPr b="0" lang="en-US" sz="2200" spc="-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software</a:t>
            </a:r>
            <a:r>
              <a:rPr b="0" lang="en-US" sz="22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packages</a:t>
            </a:r>
            <a:r>
              <a:rPr b="0" lang="en-US" sz="22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or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lvl="1" marL="698040" indent="-337320" defTabSz="914400">
              <a:lnSpc>
                <a:spcPct val="100000"/>
              </a:lnSpc>
              <a:spcBef>
                <a:spcPts val="601"/>
              </a:spcBef>
              <a:buClr>
                <a:srgbClr val="2f1f58"/>
              </a:buClr>
              <a:buFont typeface="Candara"/>
              <a:buChar char="•"/>
              <a:tabLst>
                <a:tab algn="l" pos="758880"/>
                <a:tab algn="l" pos="75960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perform</a:t>
            </a:r>
            <a:r>
              <a:rPr b="0" lang="en-US" sz="22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updates,</a:t>
            </a:r>
            <a:r>
              <a:rPr b="0" lang="en-US" sz="22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2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new</a:t>
            </a:r>
            <a:r>
              <a:rPr b="0" lang="en-US" sz="22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are</a:t>
            </a:r>
            <a:r>
              <a:rPr b="0" lang="en-US" sz="22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discovered</a:t>
            </a:r>
            <a:r>
              <a:rPr b="0" lang="en-US" sz="22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2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publicly </a:t>
            </a:r>
            <a:r>
              <a:rPr b="0" lang="en-US" sz="2200" spc="-46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200" spc="-7" strike="noStrike">
                <a:solidFill>
                  <a:srgbClr val="2f1f58"/>
                </a:solidFill>
                <a:latin typeface="Candara"/>
              </a:rPr>
              <a:t>disclosed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"/>
              </a:spcBef>
              <a:tabLst>
                <a:tab algn="l" pos="758880"/>
                <a:tab algn="l" pos="75960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Regular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scanning and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routine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scanner updates to incorporate new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information ensure to have accurate and complete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data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current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environment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844000" y="704520"/>
            <a:ext cx="440784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Collecting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object 3"/>
          <p:cNvSpPr/>
          <p:nvPr/>
        </p:nvSpPr>
        <p:spPr>
          <a:xfrm>
            <a:off x="536760" y="1883160"/>
            <a:ext cx="8829360" cy="463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Must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balance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this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risk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against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importance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having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accurate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This information includes public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details,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embodied by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constantly growing mass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common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exposures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(CVE)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data.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6"/>
              </a:spcBef>
              <a:tabLst>
                <a:tab algn="l" pos="354960"/>
                <a:tab algn="l" pos="35568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chemeClr val="accent4">
                    <a:lumMod val="75000"/>
                  </a:schemeClr>
                </a:solidFill>
                <a:latin typeface="Candara"/>
              </a:rPr>
              <a:t>Common Vulnerabilities and Exposures (CVE) is a publicly listed catalog of known security threats. The catalog is sponsored by the United States Department of Homeland Security (DHS), and threats are divided into two categories: vulnerabilities and exposures.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875320" y="704520"/>
            <a:ext cx="434556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Analyzing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object 3"/>
          <p:cNvSpPr/>
          <p:nvPr/>
        </p:nvSpPr>
        <p:spPr>
          <a:xfrm>
            <a:off x="356040" y="1811520"/>
            <a:ext cx="9128520" cy="59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Need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analyze this data to gain useful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intelligence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about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your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environment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Scanners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will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find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many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nearly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every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device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Separating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important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from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unimportant ones can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difficult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1" lang="en-US" sz="2400" spc="-7" strike="noStrike">
                <a:solidFill>
                  <a:srgbClr val="2f1f58"/>
                </a:solidFill>
                <a:latin typeface="Candara"/>
              </a:rPr>
              <a:t>Reduce </a:t>
            </a:r>
            <a:r>
              <a:rPr b="1" lang="en-US" sz="2400" spc="-1" strike="noStrike">
                <a:solidFill>
                  <a:srgbClr val="2f1f58"/>
                </a:solidFill>
                <a:latin typeface="Candara"/>
              </a:rPr>
              <a:t>the list </a:t>
            </a:r>
            <a:r>
              <a:rPr b="1" lang="en-US" sz="2400" spc="-7" strike="noStrike">
                <a:solidFill>
                  <a:srgbClr val="2f1f58"/>
                </a:solidFill>
                <a:latin typeface="Candara"/>
              </a:rPr>
              <a:t>of vulnerabilities </a:t>
            </a:r>
            <a:r>
              <a:rPr b="1" lang="en-US" sz="2400" spc="-1" strike="noStrike">
                <a:solidFill>
                  <a:srgbClr val="2f1f58"/>
                </a:solidFill>
                <a:latin typeface="Candara"/>
              </a:rPr>
              <a:t>to a more manageable length, </a:t>
            </a:r>
            <a:r>
              <a:rPr b="1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1" lang="en-US" sz="2400" spc="-7" strike="noStrike">
                <a:solidFill>
                  <a:srgbClr val="2f1f58"/>
                </a:solidFill>
                <a:latin typeface="Candara"/>
              </a:rPr>
              <a:t>known</a:t>
            </a:r>
            <a:r>
              <a:rPr b="1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1" lang="en-US" sz="2400" spc="-7" strike="noStrike">
                <a:solidFill>
                  <a:srgbClr val="2f1f58"/>
                </a:solidFill>
                <a:latin typeface="Candara"/>
              </a:rPr>
              <a:t>as </a:t>
            </a:r>
            <a:r>
              <a:rPr b="1" lang="en-US" sz="2400" spc="-1" strike="noStrike">
                <a:solidFill>
                  <a:srgbClr val="2f1f58"/>
                </a:solidFill>
                <a:latin typeface="Candara"/>
              </a:rPr>
              <a:t>culling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Culling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straightforward: it’s a binary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yes‐or‐no decision you make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every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criterion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for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accepting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vulnerability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might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be,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for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example,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the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newer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Zero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day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875320" y="704520"/>
            <a:ext cx="434556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Analyzing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object 3"/>
          <p:cNvSpPr/>
          <p:nvPr/>
        </p:nvSpPr>
        <p:spPr>
          <a:xfrm>
            <a:off x="356040" y="1811520"/>
            <a:ext cx="9112680" cy="48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Ranking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requires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criterion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using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some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sort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scale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instance,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could rank 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vulnerabilities</a:t>
            </a:r>
            <a:r>
              <a:rPr b="0" lang="en-US" sz="2400" spc="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based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their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effects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confidentiality,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integrity,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availability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Use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Common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Scoring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System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(CVSS),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1‐to‐10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scale that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takes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into account a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vulnerability’s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 along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all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three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CIA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triad’s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axes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strong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understanding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organization’s</a:t>
            </a:r>
            <a:r>
              <a:rPr b="0" lang="en-US" sz="2400" spc="-3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risk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landscape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Your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own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scoring system that focuses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internally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developed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risk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metrics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875320" y="704520"/>
            <a:ext cx="434556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Analyzing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object 3"/>
          <p:cNvSpPr/>
          <p:nvPr/>
        </p:nvSpPr>
        <p:spPr>
          <a:xfrm>
            <a:off x="572400" y="1922760"/>
            <a:ext cx="8480880" cy="45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Cull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low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CVSS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score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Rank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remaining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by exploitability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by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CVSS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score,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from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high to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low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355680" defTabSz="914400">
              <a:lnSpc>
                <a:spcPct val="100000"/>
              </a:lnSpc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Combine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this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asset</a:t>
            </a:r>
            <a:r>
              <a:rPr b="0" lang="en-US" sz="2400" spc="-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Rank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resulting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 first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number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exploitable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per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then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total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of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found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resulting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shows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systems with the highest risk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top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875320" y="704520"/>
            <a:ext cx="434556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Analyzing</a:t>
            </a:r>
            <a:r>
              <a:rPr b="0" lang="en-US" sz="5400" spc="-7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Data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object 3"/>
          <p:cNvSpPr/>
          <p:nvPr/>
        </p:nvSpPr>
        <p:spPr>
          <a:xfrm>
            <a:off x="572400" y="1922760"/>
            <a:ext cx="44460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4" name="object 4" descr=""/>
          <p:cNvPicPr/>
          <p:nvPr/>
        </p:nvPicPr>
        <p:blipFill>
          <a:blip r:embed="rId1"/>
          <a:stretch/>
        </p:blipFill>
        <p:spPr>
          <a:xfrm>
            <a:off x="847440" y="1994400"/>
            <a:ext cx="8217720" cy="4921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237312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2242080" indent="-192348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Applying Cull‐Rank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to a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Real‐ </a:t>
            </a:r>
            <a:r>
              <a:rPr b="0" lang="en-US" sz="5400" spc="-1160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World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Example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object 3"/>
          <p:cNvSpPr/>
          <p:nvPr/>
        </p:nvSpPr>
        <p:spPr>
          <a:xfrm>
            <a:off x="572400" y="1922760"/>
            <a:ext cx="8906040" cy="48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scan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Scan result shows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 list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approximately 2,000 total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spread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across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84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devices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Cull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CVSS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score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less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than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5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Cutting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your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about 500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63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devices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38 unique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vulnerabilities—as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most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exist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on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multiple hosts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Find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out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whether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any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these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38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unique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publicly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known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exploits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237312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2242080" indent="-192348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Applying Cull‐Rank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to a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Real‐ </a:t>
            </a:r>
            <a:r>
              <a:rPr b="0" lang="en-US" sz="5400" spc="-1160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World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Example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object 3"/>
          <p:cNvSpPr/>
          <p:nvPr/>
        </p:nvSpPr>
        <p:spPr>
          <a:xfrm>
            <a:off x="572400" y="1922760"/>
            <a:ext cx="8826120" cy="583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they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do, you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need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address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those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first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Establish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what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CVSS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of each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Higher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means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greater consequences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compromise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Focus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more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3 have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known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exploits, and 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remaining 35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been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sorted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order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CVSS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Combine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2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actual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vulnerable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For each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host,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determine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how many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it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has and 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those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840" y="323280"/>
            <a:ext cx="8876880" cy="237312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2242080" indent="-192348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Applying Cull‐Rank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to a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Real‐ </a:t>
            </a:r>
            <a:r>
              <a:rPr b="0" lang="en-US" sz="5400" spc="-1160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35" strike="noStrike">
                <a:solidFill>
                  <a:srgbClr val="2f1f58"/>
                </a:solidFill>
                <a:latin typeface="Candara"/>
              </a:rPr>
              <a:t>World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Example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object 3"/>
          <p:cNvSpPr/>
          <p:nvPr/>
        </p:nvSpPr>
        <p:spPr>
          <a:xfrm>
            <a:off x="572400" y="1922760"/>
            <a:ext cx="8681400" cy="56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Clear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picture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where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need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focus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your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remediation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efforts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Among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those 63 hosts with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vulnerabilities, 48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one to two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</a:t>
            </a:r>
            <a:r>
              <a:rPr b="0" lang="en-US" sz="2400" spc="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severity no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higher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than 7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Whereas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11 have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up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15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 one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two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critical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range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(CVSS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9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higher)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algn="just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last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four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contain all the rest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those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500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total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among them—an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average 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125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 each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host, including all three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exploitable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vulnerabilities!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Clearly these systems need heavy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remediation,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a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good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argument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addressing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situation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immediately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157040" y="704520"/>
            <a:ext cx="77760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Making</a:t>
            </a:r>
            <a:r>
              <a:rPr b="0" lang="en-US" sz="5400" spc="-9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2" name="object 3"/>
          <p:cNvSpPr/>
          <p:nvPr/>
        </p:nvSpPr>
        <p:spPr>
          <a:xfrm>
            <a:off x="572400" y="1922760"/>
            <a:ext cx="8737200" cy="48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Now that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a list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hosts and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vulnerabilities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sorted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by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risk to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your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organization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actions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remediate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vulnerabilities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Start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highest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risk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work way down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list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Involves working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 system and application owners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well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other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stakeholders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Major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types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remediation</a:t>
            </a:r>
            <a:r>
              <a:rPr b="0" lang="en-US" sz="2400" spc="2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are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patching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Patching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simple: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 apply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patch that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resolves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question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57040" y="704520"/>
            <a:ext cx="77760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Making</a:t>
            </a:r>
            <a:r>
              <a:rPr b="0" lang="en-US" sz="5400" spc="-9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4" name="object 3"/>
          <p:cNvSpPr/>
          <p:nvPr/>
        </p:nvSpPr>
        <p:spPr>
          <a:xfrm>
            <a:off x="572400" y="1922760"/>
            <a:ext cx="8424720" cy="450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568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more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complex and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is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context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dependent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If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 patch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isn’t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available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if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it’s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infeasible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apply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one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Look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other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ways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address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risk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Perhaps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changing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configuration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will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prevent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specific </a:t>
            </a:r>
            <a:r>
              <a:rPr b="0" lang="en-US" sz="2400" spc="-50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18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from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being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exploited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20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4960" indent="-343080" algn="just" defTabSz="91440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Perhaps 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vulnerable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service isn’t needed outside specific IP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ranges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you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can protect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with firewall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rules or router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access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control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lists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(ACLs),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reducing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exposure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157040" y="704520"/>
            <a:ext cx="7776000" cy="1658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Making</a:t>
            </a:r>
            <a:r>
              <a:rPr b="0" lang="en-US" sz="5400" spc="-9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6" name="object 3"/>
          <p:cNvSpPr/>
          <p:nvPr/>
        </p:nvSpPr>
        <p:spPr>
          <a:xfrm>
            <a:off x="572400" y="1922760"/>
            <a:ext cx="8746920" cy="287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54960" indent="-343080" defTabSz="91440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Perhaps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existing intrusion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detection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system (IDS)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intrusion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prevention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(IPS) needs additional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rules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detect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whether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someone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attempting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exploit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that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specific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vulnerability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block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4"/>
              </a:spcBef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  <a:p>
            <a:pPr marL="355680" indent="-343080" defTabSz="91440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422280"/>
                <a:tab algn="l" pos="42300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	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All of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these are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examples of vulnerability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mitigation, and the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correct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response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will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depend</a:t>
            </a:r>
            <a:r>
              <a:rPr b="0" lang="en-US" sz="2400" spc="3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organization</a:t>
            </a:r>
            <a:r>
              <a:rPr b="0" lang="en-US" sz="2400" spc="-26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environment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306160" y="323280"/>
            <a:ext cx="5478480" cy="2373120"/>
          </a:xfrm>
          <a:prstGeom prst="rect">
            <a:avLst/>
          </a:prstGeom>
          <a:noFill/>
          <a:ln w="0">
            <a:noFill/>
          </a:ln>
        </p:spPr>
        <p:txBody>
          <a:bodyPr lIns="0" rIns="0" tIns="86400" bIns="0" anchor="t">
            <a:noAutofit/>
          </a:bodyPr>
          <a:p>
            <a:pPr marL="12600" indent="697320">
              <a:lnSpc>
                <a:spcPts val="6001"/>
              </a:lnSpc>
              <a:spcBef>
                <a:spcPts val="680"/>
              </a:spcBef>
              <a:buNone/>
              <a:tabLst>
                <a:tab algn="l" pos="0"/>
              </a:tabLst>
            </a:pP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Implementing </a:t>
            </a:r>
            <a:r>
              <a:rPr b="0" lang="en-US" sz="5400" spc="-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5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5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72400" y="1922760"/>
            <a:ext cx="8903520" cy="5600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355680" indent="-343080">
              <a:lnSpc>
                <a:spcPct val="100000"/>
              </a:lnSpc>
              <a:spcBef>
                <a:spcPts val="99"/>
              </a:spcBef>
              <a:buClr>
                <a:srgbClr val="baabe3"/>
              </a:buClr>
              <a:buFont typeface="Symbol" charset="2"/>
              <a:buChar char=""/>
              <a:tabLst>
                <a:tab algn="l" pos="354960"/>
                <a:tab algn="l" pos="35568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Approach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system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application owners to suggest they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implement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proposed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remediation</a:t>
            </a:r>
            <a:r>
              <a:rPr b="0" lang="en-US" sz="2400" spc="2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actions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"/>
              </a:spcBef>
              <a:buNone/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chemeClr val="dk1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If they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were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involved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process, this step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should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be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straightforward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"/>
              </a:spcBef>
              <a:buNone/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chemeClr val="dk1"/>
              </a:solidFill>
              <a:latin typeface="Calibri"/>
            </a:endParaRPr>
          </a:p>
          <a:p>
            <a:pPr marL="355680" indent="-343080">
              <a:lnSpc>
                <a:spcPct val="100000"/>
              </a:lnSpc>
              <a:spcBef>
                <a:spcPts val="6"/>
              </a:spcBef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If the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are unexpected,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explain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security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risks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 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reasons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for the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14"/>
              </a:spcBef>
              <a:buNone/>
              <a:tabLst>
                <a:tab algn="l" pos="354960"/>
                <a:tab algn="l" pos="355680"/>
              </a:tabLst>
            </a:pPr>
            <a:endParaRPr b="0" lang="en-US" sz="1950" spc="-1" strike="noStrike">
              <a:solidFill>
                <a:schemeClr val="dk1"/>
              </a:solidFill>
              <a:latin typeface="Calibri"/>
            </a:endParaRPr>
          </a:p>
          <a:p>
            <a:pPr marL="422280" indent="-41004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422280"/>
                <a:tab algn="l" pos="423000"/>
              </a:tabLst>
            </a:pP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All</a:t>
            </a:r>
            <a:r>
              <a:rPr b="0" lang="en-US" sz="2400" spc="-2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agree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on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timeframe</a:t>
            </a:r>
            <a:r>
              <a:rPr b="0" lang="en-US" sz="2400" spc="-15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for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implementation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20"/>
              </a:spcBef>
              <a:buNone/>
              <a:tabLst>
                <a:tab algn="l" pos="422280"/>
                <a:tab algn="l" pos="423000"/>
              </a:tabLst>
            </a:pPr>
            <a:endParaRPr b="0" lang="en-US" sz="1950" spc="-1" strike="noStrike">
              <a:solidFill>
                <a:schemeClr val="dk1"/>
              </a:solidFill>
              <a:latin typeface="Calibri"/>
            </a:endParaRPr>
          </a:p>
          <a:p>
            <a:pPr marL="354960" indent="-343080">
              <a:lnSpc>
                <a:spcPct val="100000"/>
              </a:lnSpc>
              <a:buClr>
                <a:srgbClr val="baabe3"/>
              </a:buClr>
              <a:buFont typeface="Candara"/>
              <a:buChar char="•"/>
              <a:tabLst>
                <a:tab algn="l" pos="354960"/>
                <a:tab algn="l" pos="355680"/>
              </a:tabLst>
            </a:pP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Once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those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responsible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 implemented</a:t>
            </a:r>
            <a:r>
              <a:rPr b="0" lang="en-US" sz="2400" spc="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the 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recommendations—via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patching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or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mitigation—the final step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is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to </a:t>
            </a:r>
            <a:r>
              <a:rPr b="0" lang="en-US" sz="2400" spc="-511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verify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 that the changes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have</a:t>
            </a:r>
            <a:r>
              <a:rPr b="0" lang="en-US" sz="2400" spc="-7" strike="noStrike">
                <a:solidFill>
                  <a:srgbClr val="2f1f58"/>
                </a:solidFill>
                <a:latin typeface="Candara"/>
              </a:rPr>
              <a:t> been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made</a:t>
            </a:r>
            <a:r>
              <a:rPr b="0" lang="en-US" sz="2400" spc="9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and</a:t>
            </a:r>
            <a:r>
              <a:rPr b="0" lang="en-US" sz="2400" spc="-12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are</a:t>
            </a:r>
            <a:r>
              <a:rPr b="0" lang="en-US" sz="2400" spc="4" strike="noStrike">
                <a:solidFill>
                  <a:srgbClr val="2f1f58"/>
                </a:solidFill>
                <a:latin typeface="Candara"/>
              </a:rPr>
              <a:t> </a:t>
            </a:r>
            <a:r>
              <a:rPr b="0" lang="en-US" sz="2400" spc="-1" strike="noStrike">
                <a:solidFill>
                  <a:srgbClr val="2f1f58"/>
                </a:solidFill>
                <a:latin typeface="Candara"/>
              </a:rPr>
              <a:t>effective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LibreOffice/24.2.0.3$Linux_X86_64 LibreOffice_project/420$Build-3</Application>
  <AppVersion>15.0000</AppVersion>
  <Words>1230</Words>
  <Paragraphs>170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2024-03-15T09:32:47Z</dcterms:created>
  <dc:creator>HP</dc:creator>
  <dc:description/>
  <dc:language>en-US</dc:language>
  <cp:lastModifiedBy/>
  <dcterms:modified xsi:type="dcterms:W3CDTF">2024-04-25T00:31:11Z</dcterms:modified>
  <cp:revision>7</cp:revision>
  <dc:subject/>
  <dc:title>Microsoft PowerPoint - 01-Introduction to Vulnerability Management.pptx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2023-02-26T00:00:00Z</vt:filetime>
  </property>
  <property fmtid="{D5CDD505-2E9C-101B-9397-08002B2CF9AE}" pid="3" name="Creator">
    <vt:lpwstr>PScript5.dll Version 5.2.2</vt:lpwstr>
  </property>
  <property fmtid="{D5CDD505-2E9C-101B-9397-08002B2CF9AE}" pid="4" name="LastSaved">
    <vt:filetime>2024-03-15T00:00:00Z</vt:filetime>
  </property>
  <property fmtid="{D5CDD505-2E9C-101B-9397-08002B2CF9AE}" pid="5" name="PresentationFormat">
    <vt:lpwstr>Custom</vt:lpwstr>
  </property>
  <property fmtid="{D5CDD505-2E9C-101B-9397-08002B2CF9AE}" pid="6" name="Slides">
    <vt:i4>19</vt:i4>
  </property>
</Properties>
</file>