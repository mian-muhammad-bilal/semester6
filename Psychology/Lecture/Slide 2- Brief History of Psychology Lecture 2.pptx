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1" r:id="rId3"/>
    <p:sldId id="262" r:id="rId4"/>
    <p:sldId id="257" r:id="rId5"/>
    <p:sldId id="263" r:id="rId6"/>
    <p:sldId id="264" r:id="rId7"/>
    <p:sldId id="265" r:id="rId8"/>
    <p:sldId id="266"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4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81ABD8-17FE-4095-81DC-69D867ADAA08}" type="datetimeFigureOut">
              <a:rPr lang="en-US" smtClean="0"/>
              <a:t>10/2/2019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F62AD2-E4DA-41BA-850C-31B51872E40B}" type="slidenum">
              <a:rPr lang="en-US" smtClean="0"/>
              <a:t>‹#›</a:t>
            </a:fld>
            <a:endParaRPr lang="en-US"/>
          </a:p>
        </p:txBody>
      </p:sp>
    </p:spTree>
    <p:extLst>
      <p:ext uri="{BB962C8B-B14F-4D97-AF65-F5344CB8AC3E}">
        <p14:creationId xmlns:p14="http://schemas.microsoft.com/office/powerpoint/2010/main" val="3140651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F62AD2-E4DA-41BA-850C-31B51872E40B}" type="slidenum">
              <a:rPr lang="en-US" smtClean="0"/>
              <a:t>3</a:t>
            </a:fld>
            <a:endParaRPr lang="en-US"/>
          </a:p>
        </p:txBody>
      </p:sp>
    </p:spTree>
    <p:extLst>
      <p:ext uri="{BB962C8B-B14F-4D97-AF65-F5344CB8AC3E}">
        <p14:creationId xmlns:p14="http://schemas.microsoft.com/office/powerpoint/2010/main" val="271073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FE9815-8AE5-4AE2-B90A-E7C5B46E5BC3}" type="datetimeFigureOut">
              <a:rPr lang="en-US" smtClean="0"/>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421602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FE9815-8AE5-4AE2-B90A-E7C5B46E5BC3}" type="datetimeFigureOut">
              <a:rPr lang="en-US" smtClean="0"/>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025562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FE9815-8AE5-4AE2-B90A-E7C5B46E5BC3}" type="datetimeFigureOut">
              <a:rPr lang="en-US" smtClean="0"/>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35480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FE9815-8AE5-4AE2-B90A-E7C5B46E5BC3}" type="datetimeFigureOut">
              <a:rPr lang="en-US" smtClean="0"/>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045693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FE9815-8AE5-4AE2-B90A-E7C5B46E5BC3}" type="datetimeFigureOut">
              <a:rPr lang="en-US" smtClean="0"/>
              <a:t>10/2/2019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215043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FE9815-8AE5-4AE2-B90A-E7C5B46E5BC3}" type="datetimeFigureOut">
              <a:rPr lang="en-US" smtClean="0"/>
              <a:t>10/2/2019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93373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FE9815-8AE5-4AE2-B90A-E7C5B46E5BC3}" type="datetimeFigureOut">
              <a:rPr lang="en-US" smtClean="0"/>
              <a:t>10/2/2019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3830114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FE9815-8AE5-4AE2-B90A-E7C5B46E5BC3}" type="datetimeFigureOut">
              <a:rPr lang="en-US" smtClean="0"/>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3051628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FE9815-8AE5-4AE2-B90A-E7C5B46E5BC3}" type="datetimeFigureOut">
              <a:rPr lang="en-US" smtClean="0"/>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379537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FE9815-8AE5-4AE2-B90A-E7C5B46E5BC3}" type="datetimeFigureOut">
              <a:rPr lang="en-US" smtClean="0"/>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3629576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FE9815-8AE5-4AE2-B90A-E7C5B46E5BC3}" type="datetimeFigureOut">
              <a:rPr lang="en-US" smtClean="0"/>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2E363-EF9D-4025-AD14-D8AB2F654FA2}" type="slidenum">
              <a:rPr lang="en-US" smtClean="0"/>
              <a:t>‹#›</a:t>
            </a:fld>
            <a:endParaRPr lang="en-US"/>
          </a:p>
        </p:txBody>
      </p:sp>
    </p:spTree>
    <p:extLst>
      <p:ext uri="{BB962C8B-B14F-4D97-AF65-F5344CB8AC3E}">
        <p14:creationId xmlns:p14="http://schemas.microsoft.com/office/powerpoint/2010/main" val="1935707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FE9815-8AE5-4AE2-B90A-E7C5B46E5BC3}" type="datetimeFigureOut">
              <a:rPr lang="en-US" smtClean="0"/>
              <a:t>10/2/2019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2E363-EF9D-4025-AD14-D8AB2F654FA2}" type="slidenum">
              <a:rPr lang="en-US" smtClean="0"/>
              <a:t>‹#›</a:t>
            </a:fld>
            <a:endParaRPr lang="en-US"/>
          </a:p>
        </p:txBody>
      </p:sp>
    </p:spTree>
    <p:extLst>
      <p:ext uri="{BB962C8B-B14F-4D97-AF65-F5344CB8AC3E}">
        <p14:creationId xmlns:p14="http://schemas.microsoft.com/office/powerpoint/2010/main" val="1284874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Brief History of Psychology</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dirty="0" smtClean="0"/>
              <a:t>By </a:t>
            </a:r>
            <a:r>
              <a:rPr lang="en-US" dirty="0" err="1" smtClean="0"/>
              <a:t>Sumaira</a:t>
            </a:r>
            <a:r>
              <a:rPr lang="en-US" dirty="0" smtClean="0"/>
              <a:t> </a:t>
            </a:r>
            <a:r>
              <a:rPr lang="en-US" dirty="0" err="1" smtClean="0"/>
              <a:t>Ayub</a:t>
            </a:r>
            <a:endParaRPr lang="en-US" dirty="0"/>
          </a:p>
        </p:txBody>
      </p:sp>
    </p:spTree>
    <p:extLst>
      <p:ext uri="{BB962C8B-B14F-4D97-AF65-F5344CB8AC3E}">
        <p14:creationId xmlns:p14="http://schemas.microsoft.com/office/powerpoint/2010/main" val="3327009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1600200"/>
            <a:ext cx="8229600" cy="4800600"/>
          </a:xfrm>
        </p:spPr>
        <p:txBody>
          <a:bodyPr>
            <a:noAutofit/>
          </a:bodyPr>
          <a:lstStyle/>
          <a:p>
            <a:r>
              <a:rPr lang="en-US" sz="2800" dirty="0">
                <a:latin typeface="Times New Roman" pitchFamily="18" charset="0"/>
                <a:cs typeface="Times New Roman" pitchFamily="18" charset="0"/>
              </a:rPr>
              <a:t>Seven thousand years ago, people assumed that psychological problems were caused </a:t>
            </a:r>
            <a:r>
              <a:rPr lang="en-US" sz="2800" dirty="0" smtClean="0">
                <a:latin typeface="Times New Roman" pitchFamily="18" charset="0"/>
                <a:cs typeface="Times New Roman" pitchFamily="18" charset="0"/>
              </a:rPr>
              <a:t>by evil </a:t>
            </a:r>
            <a:r>
              <a:rPr lang="en-US" sz="2800" dirty="0">
                <a:latin typeface="Times New Roman" pitchFamily="18" charset="0"/>
                <a:cs typeface="Times New Roman" pitchFamily="18" charset="0"/>
              </a:rPr>
              <a:t>spirits. To allow those spirits to escape from a person’s body, ancient healers </a:t>
            </a:r>
            <a:r>
              <a:rPr lang="en-US" sz="2800" dirty="0" smtClean="0">
                <a:latin typeface="Times New Roman" pitchFamily="18" charset="0"/>
                <a:cs typeface="Times New Roman" pitchFamily="18" charset="0"/>
              </a:rPr>
              <a:t>chipped a </a:t>
            </a:r>
            <a:r>
              <a:rPr lang="en-US" sz="2800" dirty="0">
                <a:latin typeface="Times New Roman" pitchFamily="18" charset="0"/>
                <a:cs typeface="Times New Roman" pitchFamily="18" charset="0"/>
              </a:rPr>
              <a:t>hole in a patient’s skull with </a:t>
            </a:r>
            <a:r>
              <a:rPr lang="en-US" sz="2800" dirty="0" smtClean="0">
                <a:latin typeface="Times New Roman" pitchFamily="18" charset="0"/>
                <a:cs typeface="Times New Roman" pitchFamily="18" charset="0"/>
              </a:rPr>
              <a:t>crude instruments—a </a:t>
            </a:r>
            <a:r>
              <a:rPr lang="en-US" sz="2800" dirty="0">
                <a:latin typeface="Times New Roman" pitchFamily="18" charset="0"/>
                <a:cs typeface="Times New Roman" pitchFamily="18" charset="0"/>
              </a:rPr>
              <a:t>procedure called </a:t>
            </a:r>
            <a:r>
              <a:rPr lang="en-US" sz="2800" i="1" dirty="0" smtClean="0">
                <a:latin typeface="Times New Roman" pitchFamily="18" charset="0"/>
                <a:cs typeface="Times New Roman" pitchFamily="18" charset="0"/>
              </a:rPr>
              <a:t>trephining</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7th-century </a:t>
            </a:r>
            <a:r>
              <a:rPr lang="en-US" sz="2800" dirty="0">
                <a:latin typeface="Times New Roman" pitchFamily="18" charset="0"/>
                <a:cs typeface="Times New Roman" pitchFamily="18" charset="0"/>
              </a:rPr>
              <a:t>philosopher Descartes, nerves were hollow tubes </a:t>
            </a:r>
            <a:r>
              <a:rPr lang="en-US" sz="2800" dirty="0" smtClean="0">
                <a:latin typeface="Times New Roman" pitchFamily="18" charset="0"/>
                <a:cs typeface="Times New Roman" pitchFamily="18" charset="0"/>
              </a:rPr>
              <a:t>through which </a:t>
            </a:r>
            <a:r>
              <a:rPr lang="en-US" sz="2800" dirty="0">
                <a:latin typeface="Times New Roman" pitchFamily="18" charset="0"/>
                <a:cs typeface="Times New Roman" pitchFamily="18" charset="0"/>
              </a:rPr>
              <a:t>“animal spirits” conducted impulses in the same way that water is </a:t>
            </a:r>
            <a:r>
              <a:rPr lang="en-US" sz="2800" dirty="0" smtClean="0">
                <a:latin typeface="Times New Roman" pitchFamily="18" charset="0"/>
                <a:cs typeface="Times New Roman" pitchFamily="18" charset="0"/>
              </a:rPr>
              <a:t>transmitted through </a:t>
            </a:r>
            <a:r>
              <a:rPr lang="en-US" sz="2800" dirty="0">
                <a:latin typeface="Times New Roman" pitchFamily="18" charset="0"/>
                <a:cs typeface="Times New Roman" pitchFamily="18" charset="0"/>
              </a:rPr>
              <a:t>a pipe. When a person put a </a:t>
            </a:r>
            <a:r>
              <a:rPr lang="en-US" sz="2800" dirty="0" smtClean="0">
                <a:latin typeface="Times New Roman" pitchFamily="18" charset="0"/>
                <a:cs typeface="Times New Roman" pitchFamily="18" charset="0"/>
              </a:rPr>
              <a:t>finger </a:t>
            </a:r>
            <a:r>
              <a:rPr lang="en-US" sz="2800" dirty="0">
                <a:latin typeface="Times New Roman" pitchFamily="18" charset="0"/>
                <a:cs typeface="Times New Roman" pitchFamily="18" charset="0"/>
              </a:rPr>
              <a:t>too close to a </a:t>
            </a:r>
            <a:r>
              <a:rPr lang="en-US" sz="2800" dirty="0" smtClean="0">
                <a:latin typeface="Times New Roman" pitchFamily="18" charset="0"/>
                <a:cs typeface="Times New Roman" pitchFamily="18" charset="0"/>
              </a:rPr>
              <a:t>fire</a:t>
            </a:r>
            <a:r>
              <a:rPr lang="en-US" sz="2800" dirty="0">
                <a:latin typeface="Times New Roman" pitchFamily="18" charset="0"/>
                <a:cs typeface="Times New Roman" pitchFamily="18" charset="0"/>
              </a:rPr>
              <a:t>, heat was transmitted </a:t>
            </a:r>
            <a:r>
              <a:rPr lang="en-US" sz="2800" dirty="0" smtClean="0">
                <a:latin typeface="Times New Roman" pitchFamily="18" charset="0"/>
                <a:cs typeface="Times New Roman" pitchFamily="18" charset="0"/>
              </a:rPr>
              <a:t>to the </a:t>
            </a:r>
            <a:r>
              <a:rPr lang="en-US" sz="2800" dirty="0">
                <a:latin typeface="Times New Roman" pitchFamily="18" charset="0"/>
                <a:cs typeface="Times New Roman" pitchFamily="18" charset="0"/>
              </a:rPr>
              <a:t>brain through the tubes.</a:t>
            </a:r>
          </a:p>
        </p:txBody>
      </p:sp>
    </p:spTree>
    <p:extLst>
      <p:ext uri="{BB962C8B-B14F-4D97-AF65-F5344CB8AC3E}">
        <p14:creationId xmlns:p14="http://schemas.microsoft.com/office/powerpoint/2010/main" val="91702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What are the origins of psychology?</a:t>
            </a:r>
            <a:endParaRPr lang="en-US" dirty="0"/>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John Locke believed that children were born into the world with minds like “blank slates” (tabula rasa in Latin) and that their experiences determined what kind of adults they would become. Some argues about inborn knowledge.</a:t>
            </a:r>
          </a:p>
          <a:p>
            <a:r>
              <a:rPr lang="en-US" sz="2800" dirty="0" smtClean="0">
                <a:latin typeface="Times New Roman" pitchFamily="18" charset="0"/>
                <a:cs typeface="Times New Roman" pitchFamily="18" charset="0"/>
              </a:rPr>
              <a:t>Franz Josef Gall, an 18th-century physician, argued that a trained observer could find out intelligence, moral character, and other basic personality characteristics from the shape and number of bumps on a person’s skull.</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7977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Schools of Thought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105400"/>
          </a:xfrm>
        </p:spPr>
        <p:txBody>
          <a:bodyPr>
            <a:noAutofit/>
          </a:bodyPr>
          <a:lstStyle/>
          <a:p>
            <a:r>
              <a:rPr lang="en-US" sz="2800" dirty="0" smtClean="0">
                <a:latin typeface="Times New Roman" pitchFamily="18" charset="0"/>
                <a:cs typeface="Times New Roman" pitchFamily="18" charset="0"/>
              </a:rPr>
              <a:t>Wilhelm </a:t>
            </a:r>
            <a:r>
              <a:rPr lang="en-US" sz="2800" dirty="0">
                <a:latin typeface="Times New Roman" pitchFamily="18" charset="0"/>
                <a:cs typeface="Times New Roman" pitchFamily="18" charset="0"/>
              </a:rPr>
              <a:t>Wundt laid the foundation of psychology </a:t>
            </a:r>
            <a:r>
              <a:rPr lang="en-US" sz="2800" dirty="0" smtClean="0">
                <a:latin typeface="Times New Roman" pitchFamily="18" charset="0"/>
                <a:cs typeface="Times New Roman" pitchFamily="18" charset="0"/>
              </a:rPr>
              <a:t>in 1879</a:t>
            </a:r>
            <a:r>
              <a:rPr lang="en-US" sz="2800" dirty="0">
                <a:latin typeface="Times New Roman" pitchFamily="18" charset="0"/>
                <a:cs typeface="Times New Roman" pitchFamily="18" charset="0"/>
              </a:rPr>
              <a:t>, when he opened his laboratory in </a:t>
            </a:r>
            <a:r>
              <a:rPr lang="en-US" sz="2800" dirty="0" smtClean="0">
                <a:latin typeface="Times New Roman" pitchFamily="18" charset="0"/>
                <a:cs typeface="Times New Roman" pitchFamily="18" charset="0"/>
              </a:rPr>
              <a:t>Germany.</a:t>
            </a:r>
          </a:p>
          <a:p>
            <a:r>
              <a:rPr lang="en-US" sz="2800" dirty="0" smtClean="0">
                <a:latin typeface="Times New Roman" pitchFamily="18" charset="0"/>
                <a:cs typeface="Times New Roman" pitchFamily="18" charset="0"/>
              </a:rPr>
              <a:t> Aim </a:t>
            </a:r>
            <a:r>
              <a:rPr lang="en-US" sz="2800" dirty="0">
                <a:latin typeface="Times New Roman" pitchFamily="18" charset="0"/>
                <a:cs typeface="Times New Roman" pitchFamily="18" charset="0"/>
              </a:rPr>
              <a:t>was to study the </a:t>
            </a:r>
            <a:r>
              <a:rPr lang="en-US" sz="2800" dirty="0" smtClean="0">
                <a:latin typeface="Times New Roman" pitchFamily="18" charset="0"/>
                <a:cs typeface="Times New Roman" pitchFamily="18" charset="0"/>
              </a:rPr>
              <a:t>building blocks </a:t>
            </a:r>
            <a:r>
              <a:rPr lang="en-US" sz="2800" dirty="0">
                <a:latin typeface="Times New Roman" pitchFamily="18" charset="0"/>
                <a:cs typeface="Times New Roman" pitchFamily="18" charset="0"/>
              </a:rPr>
              <a:t>of the </a:t>
            </a:r>
            <a:r>
              <a:rPr lang="en-US" sz="2800" dirty="0" smtClean="0">
                <a:latin typeface="Times New Roman" pitchFamily="18" charset="0"/>
                <a:cs typeface="Times New Roman" pitchFamily="18" charset="0"/>
              </a:rPr>
              <a:t>mind-psychology </a:t>
            </a:r>
            <a:r>
              <a:rPr lang="en-US" sz="2800" dirty="0">
                <a:latin typeface="Times New Roman" pitchFamily="18" charset="0"/>
                <a:cs typeface="Times New Roman" pitchFamily="18" charset="0"/>
              </a:rPr>
              <a:t>to be the study of conscious </a:t>
            </a:r>
            <a:r>
              <a:rPr lang="en-US" sz="2800" dirty="0" smtClean="0">
                <a:latin typeface="Times New Roman" pitchFamily="18" charset="0"/>
                <a:cs typeface="Times New Roman" pitchFamily="18" charset="0"/>
              </a:rPr>
              <a:t>experience. </a:t>
            </a:r>
          </a:p>
          <a:p>
            <a:r>
              <a:rPr lang="en-US" sz="2800" dirty="0" smtClean="0">
                <a:latin typeface="Times New Roman" pitchFamily="18" charset="0"/>
                <a:cs typeface="Times New Roman" pitchFamily="18" charset="0"/>
              </a:rPr>
              <a:t>His </a:t>
            </a:r>
            <a:r>
              <a:rPr lang="en-US" sz="2800" dirty="0">
                <a:latin typeface="Times New Roman" pitchFamily="18" charset="0"/>
                <a:cs typeface="Times New Roman" pitchFamily="18" charset="0"/>
              </a:rPr>
              <a:t>perspective, which came to be known as </a:t>
            </a:r>
            <a:r>
              <a:rPr lang="en-US" sz="2800" b="1" dirty="0" smtClean="0">
                <a:latin typeface="Times New Roman" pitchFamily="18" charset="0"/>
                <a:cs typeface="Times New Roman" pitchFamily="18" charset="0"/>
              </a:rPr>
              <a:t>structuralism, </a:t>
            </a:r>
            <a:r>
              <a:rPr lang="en-US" sz="2800" dirty="0">
                <a:latin typeface="Times New Roman" pitchFamily="18" charset="0"/>
                <a:cs typeface="Times New Roman" pitchFamily="18" charset="0"/>
              </a:rPr>
              <a:t>focused on </a:t>
            </a:r>
            <a:r>
              <a:rPr lang="en-US" sz="2800" dirty="0" smtClean="0">
                <a:latin typeface="Times New Roman" pitchFamily="18" charset="0"/>
                <a:cs typeface="Times New Roman" pitchFamily="18" charset="0"/>
              </a:rPr>
              <a:t>uncovering the </a:t>
            </a:r>
            <a:r>
              <a:rPr lang="en-US" sz="2800" dirty="0">
                <a:latin typeface="Times New Roman" pitchFamily="18" charset="0"/>
                <a:cs typeface="Times New Roman" pitchFamily="18" charset="0"/>
              </a:rPr>
              <a:t>fundamental mental components of perception, consciousness, </a:t>
            </a:r>
            <a:r>
              <a:rPr lang="en-US" sz="2800" dirty="0" smtClean="0">
                <a:latin typeface="Times New Roman" pitchFamily="18" charset="0"/>
                <a:cs typeface="Times New Roman" pitchFamily="18" charset="0"/>
              </a:rPr>
              <a:t>thinking, emotions</a:t>
            </a:r>
            <a:r>
              <a:rPr lang="en-US" sz="2800" dirty="0">
                <a:latin typeface="Times New Roman" pitchFamily="18" charset="0"/>
                <a:cs typeface="Times New Roman" pitchFamily="18" charset="0"/>
              </a:rPr>
              <a:t>, and other kinds of mental states and activities</a:t>
            </a:r>
            <a:r>
              <a:rPr lang="en-US" sz="28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3510657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To determine how basic sensory processes shape our understanding of the world, people are asked to describe certain stimulus, </a:t>
            </a:r>
            <a:r>
              <a:rPr lang="en-US" sz="2800" dirty="0">
                <a:latin typeface="Times New Roman" pitchFamily="18" charset="0"/>
                <a:cs typeface="Times New Roman" pitchFamily="18" charset="0"/>
              </a:rPr>
              <a:t>in their own words and in as much detail </a:t>
            </a:r>
            <a:r>
              <a:rPr lang="en-US" sz="2800" dirty="0" smtClean="0">
                <a:latin typeface="Times New Roman" pitchFamily="18" charset="0"/>
                <a:cs typeface="Times New Roman" pitchFamily="18" charset="0"/>
              </a:rPr>
              <a:t>as they </a:t>
            </a:r>
            <a:r>
              <a:rPr lang="en-US" sz="2800" dirty="0">
                <a:latin typeface="Times New Roman" pitchFamily="18" charset="0"/>
                <a:cs typeface="Times New Roman" pitchFamily="18" charset="0"/>
              </a:rPr>
              <a:t>could, what they were </a:t>
            </a:r>
            <a:r>
              <a:rPr lang="en-US" sz="2800" dirty="0" smtClean="0">
                <a:latin typeface="Times New Roman" pitchFamily="18" charset="0"/>
                <a:cs typeface="Times New Roman" pitchFamily="18" charset="0"/>
              </a:rPr>
              <a:t>experiencing </a:t>
            </a:r>
            <a:r>
              <a:rPr lang="en-US" sz="2800" b="1" dirty="0" smtClean="0">
                <a:latin typeface="Times New Roman" pitchFamily="18" charset="0"/>
                <a:cs typeface="Times New Roman" pitchFamily="18" charset="0"/>
              </a:rPr>
              <a:t>(Introspection). </a:t>
            </a:r>
            <a:r>
              <a:rPr lang="en-US" sz="2800" dirty="0">
                <a:latin typeface="Times New Roman" pitchFamily="18" charset="0"/>
                <a:cs typeface="Times New Roman" pitchFamily="18" charset="0"/>
              </a:rPr>
              <a:t>Wundt argued that by analyzing </a:t>
            </a:r>
            <a:r>
              <a:rPr lang="en-US" sz="2800" dirty="0" smtClean="0">
                <a:latin typeface="Times New Roman" pitchFamily="18" charset="0"/>
                <a:cs typeface="Times New Roman" pitchFamily="18" charset="0"/>
              </a:rPr>
              <a:t>people’s reports</a:t>
            </a:r>
            <a:r>
              <a:rPr lang="en-US" sz="2800" dirty="0">
                <a:latin typeface="Times New Roman" pitchFamily="18" charset="0"/>
                <a:cs typeface="Times New Roman" pitchFamily="18" charset="0"/>
              </a:rPr>
              <a:t>, psychologists could come to a better understanding of the structure of the mind</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It was not a scientific technique and people had difficulty describing some kinds of inner experiences, such as emotional responses.</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023994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sz="2800" dirty="0">
                <a:latin typeface="Times New Roman" pitchFamily="18" charset="0"/>
                <a:cs typeface="Times New Roman" pitchFamily="18" charset="0"/>
              </a:rPr>
              <a:t>The perspective that replaced structuralism is known as functionalism. </a:t>
            </a:r>
            <a:r>
              <a:rPr lang="en-US" sz="2800" dirty="0" smtClean="0">
                <a:latin typeface="Times New Roman" pitchFamily="18" charset="0"/>
                <a:cs typeface="Times New Roman" pitchFamily="18" charset="0"/>
              </a:rPr>
              <a:t>Rather than </a:t>
            </a:r>
            <a:r>
              <a:rPr lang="en-US" sz="2800" dirty="0">
                <a:latin typeface="Times New Roman" pitchFamily="18" charset="0"/>
                <a:cs typeface="Times New Roman" pitchFamily="18" charset="0"/>
              </a:rPr>
              <a:t>focusing on the mind’s structure, </a:t>
            </a:r>
            <a:r>
              <a:rPr lang="en-US" sz="2800" b="1" dirty="0">
                <a:latin typeface="Times New Roman" pitchFamily="18" charset="0"/>
                <a:cs typeface="Times New Roman" pitchFamily="18" charset="0"/>
              </a:rPr>
              <a:t>functionalism </a:t>
            </a:r>
            <a:r>
              <a:rPr lang="en-US" sz="2800" dirty="0">
                <a:latin typeface="Times New Roman" pitchFamily="18" charset="0"/>
                <a:cs typeface="Times New Roman" pitchFamily="18" charset="0"/>
              </a:rPr>
              <a:t>concentrated on what the </a:t>
            </a:r>
            <a:r>
              <a:rPr lang="en-US" sz="2800" dirty="0" smtClean="0">
                <a:latin typeface="Times New Roman" pitchFamily="18" charset="0"/>
                <a:cs typeface="Times New Roman" pitchFamily="18" charset="0"/>
              </a:rPr>
              <a:t>mind </a:t>
            </a:r>
            <a:r>
              <a:rPr lang="en-US" sz="2800" i="1" dirty="0" smtClean="0">
                <a:latin typeface="Times New Roman" pitchFamily="18" charset="0"/>
                <a:cs typeface="Times New Roman" pitchFamily="18" charset="0"/>
              </a:rPr>
              <a:t>does </a:t>
            </a:r>
            <a:r>
              <a:rPr lang="en-US" sz="2800" dirty="0">
                <a:latin typeface="Times New Roman" pitchFamily="18" charset="0"/>
                <a:cs typeface="Times New Roman" pitchFamily="18" charset="0"/>
              </a:rPr>
              <a:t>and how behavior </a:t>
            </a:r>
            <a:r>
              <a:rPr lang="en-US" sz="2800" i="1" dirty="0" smtClean="0">
                <a:latin typeface="Times New Roman" pitchFamily="18" charset="0"/>
                <a:cs typeface="Times New Roman" pitchFamily="18" charset="0"/>
              </a:rPr>
              <a:t>functions.</a:t>
            </a:r>
          </a:p>
          <a:p>
            <a:r>
              <a:rPr lang="en-US" sz="2800" dirty="0" smtClean="0">
                <a:latin typeface="Times New Roman" pitchFamily="18" charset="0"/>
                <a:cs typeface="Times New Roman" pitchFamily="18" charset="0"/>
              </a:rPr>
              <a:t>Led by William James in 19</a:t>
            </a:r>
            <a:r>
              <a:rPr lang="en-US" sz="2800" baseline="30000" dirty="0" smtClean="0">
                <a:latin typeface="Times New Roman" pitchFamily="18" charset="0"/>
                <a:cs typeface="Times New Roman" pitchFamily="18" charset="0"/>
              </a:rPr>
              <a:t>th</a:t>
            </a:r>
            <a:r>
              <a:rPr lang="en-US" sz="2800" dirty="0" smtClean="0">
                <a:latin typeface="Times New Roman" pitchFamily="18" charset="0"/>
                <a:cs typeface="Times New Roman" pitchFamily="18" charset="0"/>
              </a:rPr>
              <a:t> century, the functionalists examined  what </a:t>
            </a:r>
            <a:r>
              <a:rPr lang="en-US" sz="2800" dirty="0">
                <a:latin typeface="Times New Roman" pitchFamily="18" charset="0"/>
                <a:cs typeface="Times New Roman" pitchFamily="18" charset="0"/>
              </a:rPr>
              <a:t>role behavior plays in allowing people to </a:t>
            </a:r>
            <a:r>
              <a:rPr lang="en-US" sz="2800" dirty="0" smtClean="0">
                <a:latin typeface="Times New Roman" pitchFamily="18" charset="0"/>
                <a:cs typeface="Times New Roman" pitchFamily="18" charset="0"/>
              </a:rPr>
              <a:t>adapt to </a:t>
            </a:r>
            <a:r>
              <a:rPr lang="en-US" sz="2800" dirty="0">
                <a:latin typeface="Times New Roman" pitchFamily="18" charset="0"/>
                <a:cs typeface="Times New Roman" pitchFamily="18" charset="0"/>
              </a:rPr>
              <a:t>their environments. </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For </a:t>
            </a:r>
            <a:r>
              <a:rPr lang="en-US" sz="2800" dirty="0">
                <a:latin typeface="Times New Roman" pitchFamily="18" charset="0"/>
                <a:cs typeface="Times New Roman" pitchFamily="18" charset="0"/>
              </a:rPr>
              <a:t>example, a functionalist might examine the function </a:t>
            </a:r>
            <a:r>
              <a:rPr lang="en-US" sz="2800" dirty="0" smtClean="0">
                <a:latin typeface="Times New Roman" pitchFamily="18" charset="0"/>
                <a:cs typeface="Times New Roman" pitchFamily="18" charset="0"/>
              </a:rPr>
              <a:t>of the </a:t>
            </a:r>
            <a:r>
              <a:rPr lang="en-US" sz="2800" dirty="0">
                <a:latin typeface="Times New Roman" pitchFamily="18" charset="0"/>
                <a:cs typeface="Times New Roman" pitchFamily="18" charset="0"/>
              </a:rPr>
              <a:t>emotion of fear in preparing us to deal with emergency situations.</a:t>
            </a:r>
          </a:p>
        </p:txBody>
      </p:sp>
    </p:spTree>
    <p:extLst>
      <p:ext uri="{BB962C8B-B14F-4D97-AF65-F5344CB8AC3E}">
        <p14:creationId xmlns:p14="http://schemas.microsoft.com/office/powerpoint/2010/main" val="2272327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800" dirty="0" smtClean="0">
                <a:latin typeface="Times New Roman" pitchFamily="18" charset="0"/>
                <a:cs typeface="Times New Roman" pitchFamily="18" charset="0"/>
              </a:rPr>
              <a:t>Instead of considering the individual parts that make up thinking, gestalt psychologists took the opposite tack, studying </a:t>
            </a:r>
            <a:r>
              <a:rPr lang="en-US" sz="2800" dirty="0">
                <a:latin typeface="Times New Roman" pitchFamily="18" charset="0"/>
                <a:cs typeface="Times New Roman" pitchFamily="18" charset="0"/>
              </a:rPr>
              <a:t>how people consider </a:t>
            </a:r>
            <a:r>
              <a:rPr lang="en-US" sz="2800" dirty="0" smtClean="0">
                <a:latin typeface="Times New Roman" pitchFamily="18" charset="0"/>
                <a:cs typeface="Times New Roman" pitchFamily="18" charset="0"/>
              </a:rPr>
              <a:t>individual elements </a:t>
            </a:r>
            <a:r>
              <a:rPr lang="en-US" sz="2800" dirty="0">
                <a:latin typeface="Times New Roman" pitchFamily="18" charset="0"/>
                <a:cs typeface="Times New Roman" pitchFamily="18" charset="0"/>
              </a:rPr>
              <a:t>together as units or wholes</a:t>
            </a: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Gestalt psychology </a:t>
            </a:r>
            <a:r>
              <a:rPr lang="en-US" sz="2800" dirty="0" smtClean="0">
                <a:latin typeface="Times New Roman" pitchFamily="18" charset="0"/>
                <a:cs typeface="Times New Roman" pitchFamily="18" charset="0"/>
              </a:rPr>
              <a:t>emphasizes how perception is organized. it </a:t>
            </a:r>
            <a:r>
              <a:rPr lang="en-US" sz="2800" dirty="0" smtClean="0">
                <a:latin typeface="Times New Roman" pitchFamily="18" charset="0"/>
                <a:cs typeface="Times New Roman" pitchFamily="18" charset="0"/>
              </a:rPr>
              <a:t>proposed </a:t>
            </a:r>
            <a:r>
              <a:rPr lang="en-US" sz="2800" dirty="0">
                <a:latin typeface="Times New Roman" pitchFamily="18" charset="0"/>
                <a:cs typeface="Times New Roman" pitchFamily="18" charset="0"/>
              </a:rPr>
              <a:t>that </a:t>
            </a:r>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whole </a:t>
            </a:r>
            <a:r>
              <a:rPr lang="en-US" sz="2800" dirty="0" smtClean="0">
                <a:latin typeface="Times New Roman" pitchFamily="18" charset="0"/>
                <a:cs typeface="Times New Roman" pitchFamily="18" charset="0"/>
              </a:rPr>
              <a:t>is different </a:t>
            </a:r>
            <a:r>
              <a:rPr lang="en-US" sz="2800" dirty="0">
                <a:latin typeface="Times New Roman" pitchFamily="18" charset="0"/>
                <a:cs typeface="Times New Roman" pitchFamily="18" charset="0"/>
              </a:rPr>
              <a:t>from the sum of its parts,” meaning that our perception, or </a:t>
            </a:r>
            <a:r>
              <a:rPr lang="en-US" sz="2800" dirty="0" smtClean="0">
                <a:latin typeface="Times New Roman" pitchFamily="18" charset="0"/>
                <a:cs typeface="Times New Roman" pitchFamily="18" charset="0"/>
              </a:rPr>
              <a:t>understanding, of </a:t>
            </a:r>
            <a:r>
              <a:rPr lang="en-US" sz="2800" dirty="0">
                <a:latin typeface="Times New Roman" pitchFamily="18" charset="0"/>
                <a:cs typeface="Times New Roman" pitchFamily="18" charset="0"/>
              </a:rPr>
              <a:t>objects is greater and more meaningful than the individual elements that make </a:t>
            </a:r>
            <a:r>
              <a:rPr lang="en-US" sz="2800" dirty="0" smtClean="0">
                <a:latin typeface="Times New Roman" pitchFamily="18" charset="0"/>
                <a:cs typeface="Times New Roman" pitchFamily="18" charset="0"/>
              </a:rPr>
              <a:t>up our </a:t>
            </a:r>
            <a:r>
              <a:rPr lang="en-US" sz="2800" dirty="0">
                <a:latin typeface="Times New Roman" pitchFamily="18" charset="0"/>
                <a:cs typeface="Times New Roman" pitchFamily="18" charset="0"/>
              </a:rPr>
              <a:t>perceptions.</a:t>
            </a:r>
          </a:p>
        </p:txBody>
      </p:sp>
    </p:spTree>
    <p:extLst>
      <p:ext uri="{BB962C8B-B14F-4D97-AF65-F5344CB8AC3E}">
        <p14:creationId xmlns:p14="http://schemas.microsoft.com/office/powerpoint/2010/main" val="413842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0" y="2667000"/>
            <a:ext cx="8229600" cy="1143000"/>
          </a:xfrm>
        </p:spPr>
        <p:txBody>
          <a:bodyPr/>
          <a:lstStyle/>
          <a:p>
            <a:r>
              <a:rPr lang="en-US" b="1" dirty="0" smtClean="0">
                <a:latin typeface="Times New Roman" pitchFamily="18" charset="0"/>
                <a:cs typeface="Times New Roman" pitchFamily="18" charset="0"/>
              </a:rPr>
              <a:t>Thank You</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44324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506</Words>
  <Application>Microsoft Office PowerPoint</Application>
  <PresentationFormat>On-screen Show (4:3)</PresentationFormat>
  <Paragraphs>19</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Brief History of Psychology</vt:lpstr>
      <vt:lpstr>PowerPoint Presentation</vt:lpstr>
      <vt:lpstr>What are the origins of psychology?</vt:lpstr>
      <vt:lpstr>Schools of Thought</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History of Psychology</dc:title>
  <dc:creator>Sumaira Ayub</dc:creator>
  <cp:lastModifiedBy>Sumaira Ayub</cp:lastModifiedBy>
  <cp:revision>8</cp:revision>
  <dcterms:created xsi:type="dcterms:W3CDTF">2019-10-02T02:12:23Z</dcterms:created>
  <dcterms:modified xsi:type="dcterms:W3CDTF">2019-10-02T03:07:35Z</dcterms:modified>
</cp:coreProperties>
</file>